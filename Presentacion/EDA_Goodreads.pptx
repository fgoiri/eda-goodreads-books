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8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7EC"/>
    <a:srgbClr val="C887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47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8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658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Exploratorio</a:t>
            </a:r>
            <a:endParaRPr lang="es-ES_tradnl" sz="4400" noProof="1"/>
          </a:p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Datos</a:t>
            </a:r>
            <a:endParaRPr lang="es-ES_tradnl" sz="4400" noProof="1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Dataset: Goodreads </a:t>
            </a:r>
            <a:r>
              <a:rPr lang="es-ES_tradnl" sz="18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Books (52k libros)</a:t>
            </a:r>
            <a:endParaRPr lang="es-ES_tradnl" sz="1800" noProof="1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486400" cy="36576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_tradnl" sz="12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| Bootcamp Data Science • Fátima Goiri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Goodreads?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628588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 es una red social orientada a la lectura fundada en 2007 y adquirida por Amazon en 2013. Con más de 150 millones de usuarios, es la mayor plataforma de referencia para lectores y escritores del mundo.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descubrir libros, valorarlos, escribir reseñas y organizar listas personales. Sus rankings y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recogen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libros mejor valorados por la comunidad.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registrados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6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6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3.000M+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6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 totales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60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60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en Best Books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4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2007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4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fundación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780" y="4326068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Funcionalidades: catálogo de libros · valoraciones y reseñas · listas personales · rankings · comunidad social · seguimiento de lectura</a:t>
            </a:r>
            <a:endParaRPr lang="en-US" sz="110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AF0C3784-8EAD-FD36-EC38-B033E6C5D6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/>
        </p:blipFill>
        <p:spPr>
          <a:xfrm>
            <a:off x="3501390" y="981667"/>
            <a:ext cx="2415539" cy="601201"/>
          </a:xfrm>
          <a:prstGeom prst="rect">
            <a:avLst/>
          </a:prstGeom>
          <a:noFill/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Kaggle? El dataset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19" y="18059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es la plataforma de ciencia de datos de Google. Ofrece datasets públicos, notebooks en la nube, competiciones con premios y una gran comunidad de científicos de datos.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utilizado es "Comprehensive Overview of 52.478 GoodReads Best Books" publicado por The Devastator. Recoge los mejores libros de Goodreads con ratings, géneros, premios, páginas y más.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1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1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1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originales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5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5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~49.000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5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limpieza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59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59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59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3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3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10/10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3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Kaggle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3662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principales: title · author · rating · numRatings · genres · pages · bookFormat · awards · language · likedPercent · bbeScore</a:t>
            </a:r>
            <a:endParaRPr lang="en-US" sz="11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1EBA698-67FE-D8F6-C9AA-FEFE0343A7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016" b="19016"/>
          <a:stretch/>
        </p:blipFill>
        <p:spPr>
          <a:xfrm>
            <a:off x="3507288" y="973890"/>
            <a:ext cx="2129421" cy="8780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Hipótesis planteadas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8" name="Text 6"/>
          <p:cNvSpPr/>
          <p:nvPr/>
        </p:nvSpPr>
        <p:spPr>
          <a:xfrm>
            <a:off x="109728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con más páginas tienen mejor rating</a:t>
            </a:r>
            <a:endParaRPr lang="es-ES_tradnl" sz="1100" noProof="1"/>
          </a:p>
        </p:txBody>
      </p:sp>
      <p:sp>
        <p:nvSpPr>
          <p:cNvPr id="9" name="Shape 7"/>
          <p:cNvSpPr/>
          <p:nvPr/>
        </p:nvSpPr>
        <p:spPr>
          <a:xfrm>
            <a:off x="480060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2" name="Text 10"/>
          <p:cNvSpPr/>
          <p:nvPr/>
        </p:nvSpPr>
        <p:spPr>
          <a:xfrm>
            <a:off x="539496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en formato Hardcover tienen mejor rating</a:t>
            </a:r>
            <a:endParaRPr lang="es-ES_tradnl" sz="1100" noProof="1"/>
          </a:p>
        </p:txBody>
      </p:sp>
      <p:sp>
        <p:nvSpPr>
          <p:cNvPr id="13" name="Shape 11"/>
          <p:cNvSpPr/>
          <p:nvPr/>
        </p:nvSpPr>
        <p:spPr>
          <a:xfrm>
            <a:off x="50292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Shape 12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6" name="Text 14"/>
          <p:cNvSpPr/>
          <p:nvPr/>
        </p:nvSpPr>
        <p:spPr>
          <a:xfrm>
            <a:off x="109728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series tienen mejores ratings que los libros individuales</a:t>
            </a:r>
            <a:endParaRPr lang="es-ES_tradnl" sz="1100" noProof="1"/>
          </a:p>
        </p:txBody>
      </p:sp>
      <p:sp>
        <p:nvSpPr>
          <p:cNvPr id="17" name="Shape 15"/>
          <p:cNvSpPr/>
          <p:nvPr/>
        </p:nvSpPr>
        <p:spPr>
          <a:xfrm>
            <a:off x="480060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8" name="Shape 16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0" name="Text 18"/>
          <p:cNvSpPr/>
          <p:nvPr/>
        </p:nvSpPr>
        <p:spPr>
          <a:xfrm>
            <a:off x="539496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concentran la mayoría de las valoraciones</a:t>
            </a:r>
            <a:endParaRPr lang="es-ES_tradnl" sz="1100" noProof="1"/>
          </a:p>
        </p:txBody>
      </p:sp>
      <p:sp>
        <p:nvSpPr>
          <p:cNvPr id="21" name="Shape 19"/>
          <p:cNvSpPr/>
          <p:nvPr/>
        </p:nvSpPr>
        <p:spPr>
          <a:xfrm>
            <a:off x="2766060" y="36576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22" name="Shape 20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Text 21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24" name="Text 22"/>
          <p:cNvSpPr/>
          <p:nvPr/>
        </p:nvSpPr>
        <p:spPr>
          <a:xfrm>
            <a:off x="3360420" y="36576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tienen más premios</a:t>
            </a:r>
            <a:endParaRPr lang="es-ES_tradnl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Proceso de limpieza de datos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Columnas eliminadas</a:t>
            </a:r>
            <a:endParaRPr lang="es-ES_tradnl" sz="1300" noProof="1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isbn, bookId, coverImg</a:t>
            </a:r>
            <a:endParaRPr lang="es-ES_tradnl" sz="1200" noProof="1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series (reemplazada por is_series)</a:t>
            </a:r>
            <a:endParaRPr lang="es-ES_tradnl" sz="1200" noProof="1"/>
          </a:p>
        </p:txBody>
      </p:sp>
      <p:sp>
        <p:nvSpPr>
          <p:cNvPr id="9" name="Text 7"/>
          <p:cNvSpPr/>
          <p:nvPr/>
        </p:nvSpPr>
        <p:spPr>
          <a:xfrm>
            <a:off x="59436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description, characters</a:t>
            </a:r>
            <a:endParaRPr lang="es-ES_tradnl" sz="1200" noProof="1"/>
          </a:p>
        </p:txBody>
      </p:sp>
      <p:sp>
        <p:nvSpPr>
          <p:cNvPr id="10" name="Text 8"/>
          <p:cNvSpPr/>
          <p:nvPr/>
        </p:nvSpPr>
        <p:spPr>
          <a:xfrm>
            <a:off x="59436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edition, firstPublishDate, price</a:t>
            </a:r>
            <a:endParaRPr lang="es-ES_tradnl" sz="1200" noProof="1"/>
          </a:p>
        </p:txBody>
      </p:sp>
      <p:sp>
        <p:nvSpPr>
          <p:cNvPr id="11" name="Text 9"/>
          <p:cNvSpPr/>
          <p:nvPr/>
        </p:nvSpPr>
        <p:spPr>
          <a:xfrm>
            <a:off x="594360" y="30449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Filas con rating = 0 o nulos en géneros</a:t>
            </a:r>
            <a:endParaRPr lang="es-ES_tradnl" sz="1200" noProof="1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Transformaciones aplicadas</a:t>
            </a:r>
            <a:endParaRPr lang="es-ES_tradnl" sz="1300" noProof="1"/>
          </a:p>
        </p:txBody>
      </p:sp>
      <p:sp>
        <p:nvSpPr>
          <p:cNvPr id="14" name="Text 12"/>
          <p:cNvSpPr/>
          <p:nvPr/>
        </p:nvSpPr>
        <p:spPr>
          <a:xfrm>
            <a:off x="480060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Filtrado por bookFormat (5 formatos válidos)</a:t>
            </a:r>
            <a:endParaRPr lang="es-ES_tradnl" sz="1200" noProof="1"/>
          </a:p>
        </p:txBody>
      </p:sp>
      <p:sp>
        <p:nvSpPr>
          <p:cNvPr id="15" name="Text 13"/>
          <p:cNvSpPr/>
          <p:nvPr/>
        </p:nvSpPr>
        <p:spPr>
          <a:xfrm>
            <a:off x="480060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Eliminación de box sets (#X-Y en series)</a:t>
            </a:r>
            <a:endParaRPr lang="es-ES_tradnl" sz="1200" noProof="1"/>
          </a:p>
        </p:txBody>
      </p:sp>
      <p:sp>
        <p:nvSpPr>
          <p:cNvPr id="16" name="Text 14"/>
          <p:cNvSpPr/>
          <p:nvPr/>
        </p:nvSpPr>
        <p:spPr>
          <a:xfrm>
            <a:off x="480060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Nueva variable is_series (True/False)</a:t>
            </a:r>
            <a:endParaRPr lang="es-ES_tradnl" sz="1200" noProof="1"/>
          </a:p>
        </p:txBody>
      </p:sp>
      <p:sp>
        <p:nvSpPr>
          <p:cNvPr id="17" name="Text 15"/>
          <p:cNvSpPr/>
          <p:nvPr/>
        </p:nvSpPr>
        <p:spPr>
          <a:xfrm>
            <a:off x="480060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Limpieza de columna author → main_author</a:t>
            </a:r>
            <a:endParaRPr lang="es-ES_tradnl" sz="1200" noProof="1"/>
          </a:p>
        </p:txBody>
      </p:sp>
      <p:sp>
        <p:nvSpPr>
          <p:cNvPr id="18" name="Text 16"/>
          <p:cNvSpPr/>
          <p:nvPr/>
        </p:nvSpPr>
        <p:spPr>
          <a:xfrm>
            <a:off x="4800600" y="3127549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Conversión de pages a numérico</a:t>
            </a:r>
          </a:p>
          <a:p>
            <a:pPr marL="342900" indent="-342900" algn="l">
              <a:buNone/>
            </a:pPr>
            <a:endParaRPr lang="es-ES_tradnl" sz="1200" noProof="1"/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final: ~49.000 libros  ·  15 variables</a:t>
            </a:r>
            <a:endParaRPr lang="es-ES_tradnl" sz="14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Distribución de ratings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669280" cy="347472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pic>
        <p:nvPicPr>
          <p:cNvPr id="100" name="hist_rat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5669280" cy="347472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</a:t>
            </a:r>
            <a:endParaRPr lang="es-ES_tradnl" sz="1300" noProof="1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~4.02 ⭐</a:t>
            </a:r>
            <a:endParaRPr lang="es-ES_tradnl" sz="1200" noProof="1"/>
          </a:p>
        </p:txBody>
      </p:sp>
      <p:sp>
        <p:nvSpPr>
          <p:cNvPr id="11" name="Shape 9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10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entre 3.5 - 4.5</a:t>
            </a:r>
            <a:endParaRPr lang="es-ES_tradnl" sz="1200" noProof="1"/>
          </a:p>
        </p:txBody>
      </p:sp>
      <p:sp>
        <p:nvSpPr>
          <p:cNvPr id="13" name="Shape 11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Text 12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pocos &lt; 3.0</a:t>
            </a:r>
            <a:endParaRPr lang="es-ES_tradnl" sz="1200" noProof="1"/>
          </a:p>
        </p:txBody>
      </p:sp>
      <p:sp>
        <p:nvSpPr>
          <p:cNvPr id="15" name="Shape 13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6" name="Text 14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sesgada a la derecha</a:t>
            </a:r>
            <a:endParaRPr lang="es-ES_tradnl" sz="12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¿Los libros con más páginas tienen mejor rating?</a:t>
            </a:r>
            <a:endParaRPr lang="es-ES_tradnl" sz="2000" noProof="1"/>
          </a:p>
        </p:txBody>
      </p:sp>
      <p:pic>
        <p:nvPicPr>
          <p:cNvPr id="200" name="h1_pagin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PARCIALMENTE CONFIRMADA: Los libros más largos obtienen ligeramente mejor rating (3,97→4,26), aunque la diferencia es mínima. Sí se confirma que acumulan muchas más valoraciones.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¿Los libros en formato Hardcover tienen mejor rating?</a:t>
            </a:r>
            <a:endParaRPr lang="es-ES_tradnl" sz="2000" noProof="1"/>
          </a:p>
        </p:txBody>
      </p:sp>
      <p:pic>
        <p:nvPicPr>
          <p:cNvPr id="300" name="h2_hardcov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RECHAZADA: Hardcover tiene el rating más bajo (3,99) pese a ser el 2º formato más valorado (26.502 valoraciones/libro). Los formatos digitales lideran en rating: Kindle 4,12 · ebook 4,07. Posible sesgo de selección: solo los títulos más populares se publican en digital.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¿Las series tienen mejores ratings que los libros individuales?</a:t>
            </a:r>
            <a:endParaRPr lang="es-ES_tradnl" sz="2000" noProof="1"/>
          </a:p>
        </p:txBody>
      </p:sp>
      <p:pic>
        <p:nvPicPr>
          <p:cNvPr id="400" name="h3_ser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sp>
        <p:nvSpPr>
          <p:cNvPr id="8" name="Text 6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ES_tradnl" sz="1200" noProof="1"/>
          </a:p>
        </p:txBody>
      </p:sp>
      <p:sp>
        <p:nvSpPr>
          <p:cNvPr id="9" name="Shape 7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CONFIRMADA: Las series tienen rating medio 4,03 vs 3,95 de los standalone. Además, acumulan más valoraciones (~23.500 vs ~19.500), lo que sugiere fidelización del lector.</a:t>
            </a:r>
            <a:endParaRPr lang="es-ES_tradnl" sz="1200" noProof="1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1157A3F-A59F-92E2-405D-68FDB93D6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051560"/>
            <a:ext cx="4377923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&amp; H5 — Autores populares: valoraciones y premios</a:t>
            </a:r>
            <a:endParaRPr lang="es-ES_tradnl" sz="2000" noProof="1"/>
          </a:p>
        </p:txBody>
      </p:sp>
      <p:pic>
        <p:nvPicPr>
          <p:cNvPr id="500" name="h4_aut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pic>
        <p:nvPicPr>
          <p:cNvPr id="501" name="h5_premi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051560"/>
            <a:ext cx="3931920" cy="3108960"/>
          </a:xfrm>
          <a:prstGeom prst="rect">
            <a:avLst/>
          </a:prstGeom>
        </p:spPr>
      </p:pic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CONFIRMADA: J.K. Rowling acumula +24M valoraciones, muy por encima del resto. H5 CONFIRMADA: autores populares tienen 2,44 premios de media vs 0,47 de los no populares.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3600" b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s-ES_tradnl" sz="3600" noProof="1"/>
          </a:p>
        </p:txBody>
      </p:sp>
      <p:sp>
        <p:nvSpPr>
          <p:cNvPr id="4" name="Shape 2"/>
          <p:cNvSpPr/>
          <p:nvPr/>
        </p:nvSpPr>
        <p:spPr>
          <a:xfrm>
            <a:off x="128016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Shape 3"/>
          <p:cNvSpPr/>
          <p:nvPr/>
        </p:nvSpPr>
        <p:spPr>
          <a:xfrm>
            <a:off x="128016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128016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7" name="Text 5"/>
          <p:cNvSpPr/>
          <p:nvPr/>
        </p:nvSpPr>
        <p:spPr>
          <a:xfrm>
            <a:off x="128016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8" name="Shape 6"/>
          <p:cNvSpPr/>
          <p:nvPr/>
        </p:nvSpPr>
        <p:spPr>
          <a:xfrm>
            <a:off x="137160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/>
          <p:nvPr/>
        </p:nvSpPr>
        <p:spPr>
          <a:xfrm>
            <a:off x="137160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leve, sin diferencia clara</a:t>
            </a:r>
            <a:endParaRPr lang="es-ES_tradnl" sz="1000" noProof="1"/>
          </a:p>
        </p:txBody>
      </p:sp>
      <p:sp>
        <p:nvSpPr>
          <p:cNvPr id="10" name="Shape 8"/>
          <p:cNvSpPr/>
          <p:nvPr/>
        </p:nvSpPr>
        <p:spPr>
          <a:xfrm>
            <a:off x="269748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Shape 9"/>
          <p:cNvSpPr/>
          <p:nvPr/>
        </p:nvSpPr>
        <p:spPr>
          <a:xfrm>
            <a:off x="269748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10"/>
          <p:cNvSpPr/>
          <p:nvPr/>
        </p:nvSpPr>
        <p:spPr>
          <a:xfrm>
            <a:off x="269748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3" name="Text 11"/>
          <p:cNvSpPr/>
          <p:nvPr/>
        </p:nvSpPr>
        <p:spPr>
          <a:xfrm>
            <a:off x="269748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Hardcover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14" name="Shape 12"/>
          <p:cNvSpPr/>
          <p:nvPr/>
        </p:nvSpPr>
        <p:spPr>
          <a:xfrm>
            <a:off x="278892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278892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Hardcover: rating más bajo (3,99)</a:t>
            </a:r>
            <a:endParaRPr lang="es-ES_tradnl" sz="1000" noProof="1"/>
          </a:p>
        </p:txBody>
      </p:sp>
      <p:sp>
        <p:nvSpPr>
          <p:cNvPr id="16" name="Shape 14"/>
          <p:cNvSpPr/>
          <p:nvPr/>
        </p:nvSpPr>
        <p:spPr>
          <a:xfrm>
            <a:off x="411480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Shape 15"/>
          <p:cNvSpPr/>
          <p:nvPr/>
        </p:nvSpPr>
        <p:spPr>
          <a:xfrm>
            <a:off x="411480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8" name="Text 16"/>
          <p:cNvSpPr/>
          <p:nvPr/>
        </p:nvSpPr>
        <p:spPr>
          <a:xfrm>
            <a:off x="411480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9" name="Text 17"/>
          <p:cNvSpPr/>
          <p:nvPr/>
        </p:nvSpPr>
        <p:spPr>
          <a:xfrm>
            <a:off x="411480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20" name="Shape 18"/>
          <p:cNvSpPr/>
          <p:nvPr/>
        </p:nvSpPr>
        <p:spPr>
          <a:xfrm>
            <a:off x="420624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1" name="Text 19"/>
          <p:cNvSpPr/>
          <p:nvPr/>
        </p:nvSpPr>
        <p:spPr>
          <a:xfrm>
            <a:off x="420624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4,03 vs 3,95 standalone</a:t>
            </a:r>
            <a:endParaRPr lang="es-ES_tradnl" sz="1000" noProof="1"/>
          </a:p>
        </p:txBody>
      </p:sp>
      <p:sp>
        <p:nvSpPr>
          <p:cNvPr id="22" name="Shape 20"/>
          <p:cNvSpPr/>
          <p:nvPr/>
        </p:nvSpPr>
        <p:spPr>
          <a:xfrm>
            <a:off x="553212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Shape 21"/>
          <p:cNvSpPr/>
          <p:nvPr/>
        </p:nvSpPr>
        <p:spPr>
          <a:xfrm>
            <a:off x="553212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4" name="Text 22"/>
          <p:cNvSpPr/>
          <p:nvPr/>
        </p:nvSpPr>
        <p:spPr>
          <a:xfrm>
            <a:off x="553212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5" name="Text 23"/>
          <p:cNvSpPr/>
          <p:nvPr/>
        </p:nvSpPr>
        <p:spPr>
          <a:xfrm>
            <a:off x="553212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26" name="Shape 24"/>
          <p:cNvSpPr/>
          <p:nvPr/>
        </p:nvSpPr>
        <p:spPr>
          <a:xfrm>
            <a:off x="562356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7" name="Text 25"/>
          <p:cNvSpPr/>
          <p:nvPr/>
        </p:nvSpPr>
        <p:spPr>
          <a:xfrm>
            <a:off x="562356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J.K. Rowling lidera con 24M+ valoraciones</a:t>
            </a:r>
            <a:endParaRPr lang="es-ES_tradnl" sz="1000" noProof="1"/>
          </a:p>
        </p:txBody>
      </p:sp>
      <p:sp>
        <p:nvSpPr>
          <p:cNvPr id="28" name="Shape 26"/>
          <p:cNvSpPr/>
          <p:nvPr/>
        </p:nvSpPr>
        <p:spPr>
          <a:xfrm>
            <a:off x="694944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694944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Text 28"/>
          <p:cNvSpPr/>
          <p:nvPr/>
        </p:nvSpPr>
        <p:spPr>
          <a:xfrm>
            <a:off x="694944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31" name="Text 29"/>
          <p:cNvSpPr/>
          <p:nvPr/>
        </p:nvSpPr>
        <p:spPr>
          <a:xfrm>
            <a:off x="694944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premios</a:t>
            </a:r>
            <a:endParaRPr lang="es-ES_tradnl" sz="1000" noProof="1"/>
          </a:p>
        </p:txBody>
      </p:sp>
      <p:sp>
        <p:nvSpPr>
          <p:cNvPr id="32" name="Shape 30"/>
          <p:cNvSpPr/>
          <p:nvPr/>
        </p:nvSpPr>
        <p:spPr>
          <a:xfrm>
            <a:off x="704088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Text 31"/>
          <p:cNvSpPr/>
          <p:nvPr/>
        </p:nvSpPr>
        <p:spPr>
          <a:xfrm>
            <a:off x="704088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Pop.: 2,44 premios vs 0,47</a:t>
            </a:r>
            <a:endParaRPr lang="es-ES_tradnl" sz="1000" noProof="1"/>
          </a:p>
        </p:txBody>
      </p:sp>
      <p:sp>
        <p:nvSpPr>
          <p:cNvPr id="40" name="Text 38"/>
          <p:cNvSpPr/>
          <p:nvPr/>
        </p:nvSpPr>
        <p:spPr>
          <a:xfrm>
            <a:off x="54864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200" i="1" noProof="1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Análisis de géneros · Correlación bbeScore · Modelo predictivo de rating</a:t>
            </a:r>
            <a:endParaRPr lang="es-ES_tradnl" sz="1200" noProof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6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s-ES_tradnl" sz="6400" noProof="1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4572000" cy="54864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Goodreads Best Books Ever  ·  Kaggle</a:t>
            </a:r>
            <a:endParaRPr lang="es-ES_tradnl" sz="1300" noProof="1"/>
          </a:p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Python · pandas · matplotlib · seaborn</a:t>
            </a:r>
            <a:endParaRPr lang="es-ES_tradnl" sz="1300" noProof="1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2400" i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s-ES_tradnl" sz="24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727</Words>
  <Application>Microsoft Macintosh PowerPoint</Application>
  <PresentationFormat>Presentación en pantalla (16:9)</PresentationFormat>
  <Paragraphs>108</Paragraphs>
  <Slides>12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Goodreads - Análisis de Libros</dc:title>
  <dc:subject>PptxGenJS Presentation</dc:subject>
  <dc:creator>PptxGenJS</dc:creator>
  <cp:lastModifiedBy>Fátima Goiri</cp:lastModifiedBy>
  <cp:revision>12</cp:revision>
  <dcterms:created xsi:type="dcterms:W3CDTF">2026-04-12T11:05:01Z</dcterms:created>
  <dcterms:modified xsi:type="dcterms:W3CDTF">2026-04-14T19:39:46Z</dcterms:modified>
</cp:coreProperties>
</file>