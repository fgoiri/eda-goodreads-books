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860A"/>
    <a:srgbClr val="E5B68F"/>
    <a:srgbClr val="FDF7EC"/>
    <a:srgbClr val="C887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79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46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s-ES_tradnl" sz="4400" noProof="1"/>
          </a:p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s-ES_tradnl" sz="4400" noProof="1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</a:t>
            </a:r>
            <a:r>
              <a:rPr lang="es-ES_tradnl" sz="18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Books (52k libros)</a:t>
            </a:r>
            <a:endParaRPr lang="es-ES_tradnl" sz="1800" noProof="1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_tradnl" sz="12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• Fátima Goiri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62858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una red social orientada a la lectura fundada en 2007 y adquirida por Amazon en 2013. Con más de 150 millones de usuarios, es la mayor plataforma de referencia para lectores y escritores del mundo.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descubrir libros, valorarlos, escribir reseñas y organizar listas personales. Sus rankings y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recogen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libros mejor valorados por la comunidad.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registrados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3.000M+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 totales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en Best Books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fundación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780" y="43260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Funcionalidades: catálogo de libros · valoraciones y reseñas · listas personales · rankings · comunidad social · seguimiento de lectura</a:t>
            </a:r>
            <a:endParaRPr lang="en-US"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AF0C3784-8EAD-FD36-EC38-B033E6C5D6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3501390" y="981667"/>
            <a:ext cx="2415539" cy="601201"/>
          </a:xfrm>
          <a:prstGeom prst="rect">
            <a:avLst/>
          </a:prstGeom>
          <a:noFill/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dataset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utilizado es "Comprehensive Overview of 52.478 GoodReads Best Books". Recoge los mejores libros de Goodreads con ratings, géneros, premios, páginas y más.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4864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4864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9748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9748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4632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4632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95160" y="2495186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95160" y="2586626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10/10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95160" y="322670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0919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s-ES_tradnl" sz="1400" noProof="1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s-ES_tradnl" sz="1400" noProof="1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s-ES_tradnl" sz="1400" noProof="1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s-ES_tradnl" sz="14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158729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502920" y="1158729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Columnas eliminadas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594360" y="177622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594360" y="224847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s-ES_tradnl" sz="1400" noProof="1"/>
          </a:p>
        </p:txBody>
      </p:sp>
      <p:sp>
        <p:nvSpPr>
          <p:cNvPr id="9" name="Text 7"/>
          <p:cNvSpPr/>
          <p:nvPr/>
        </p:nvSpPr>
        <p:spPr>
          <a:xfrm>
            <a:off x="594360" y="272503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s-ES_tradnl" sz="1400" noProof="1"/>
          </a:p>
        </p:txBody>
      </p:sp>
      <p:sp>
        <p:nvSpPr>
          <p:cNvPr id="10" name="Text 8"/>
          <p:cNvSpPr/>
          <p:nvPr/>
        </p:nvSpPr>
        <p:spPr>
          <a:xfrm>
            <a:off x="594360" y="320160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s-ES_tradnl" sz="1400" noProof="1"/>
          </a:p>
        </p:txBody>
      </p:sp>
      <p:sp>
        <p:nvSpPr>
          <p:cNvPr id="11" name="Text 9"/>
          <p:cNvSpPr/>
          <p:nvPr/>
        </p:nvSpPr>
        <p:spPr>
          <a:xfrm>
            <a:off x="594360" y="36781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s-ES_tradnl" sz="1400" noProof="1"/>
          </a:p>
        </p:txBody>
      </p:sp>
      <p:sp>
        <p:nvSpPr>
          <p:cNvPr id="12" name="Shape 10"/>
          <p:cNvSpPr/>
          <p:nvPr/>
        </p:nvSpPr>
        <p:spPr>
          <a:xfrm>
            <a:off x="4709160" y="1158729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709160" y="1158729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Transformaciones aplicadas</a:t>
            </a:r>
            <a:endParaRPr lang="es-ES_tradnl" sz="1400" noProof="1"/>
          </a:p>
        </p:txBody>
      </p:sp>
      <p:sp>
        <p:nvSpPr>
          <p:cNvPr id="14" name="Text 12"/>
          <p:cNvSpPr/>
          <p:nvPr/>
        </p:nvSpPr>
        <p:spPr>
          <a:xfrm>
            <a:off x="4800600" y="177622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s-ES_tradnl" sz="1400" noProof="1"/>
          </a:p>
        </p:txBody>
      </p:sp>
      <p:sp>
        <p:nvSpPr>
          <p:cNvPr id="15" name="Text 13"/>
          <p:cNvSpPr/>
          <p:nvPr/>
        </p:nvSpPr>
        <p:spPr>
          <a:xfrm>
            <a:off x="4800600" y="224847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4800600" y="272503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s-ES_tradnl" sz="1400" noProof="1"/>
          </a:p>
        </p:txBody>
      </p:sp>
      <p:sp>
        <p:nvSpPr>
          <p:cNvPr id="17" name="Text 15"/>
          <p:cNvSpPr/>
          <p:nvPr/>
        </p:nvSpPr>
        <p:spPr>
          <a:xfrm>
            <a:off x="4800600" y="3201603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s-ES_tradnl" sz="1400" noProof="1"/>
          </a:p>
        </p:txBody>
      </p:sp>
      <p:sp>
        <p:nvSpPr>
          <p:cNvPr id="18" name="Text 16"/>
          <p:cNvSpPr/>
          <p:nvPr/>
        </p:nvSpPr>
        <p:spPr>
          <a:xfrm>
            <a:off x="4800600" y="36781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</a:t>
            </a:r>
            <a:endParaRPr lang="es-ES_tradnl" sz="16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s-ES_tradnl" sz="1300" noProof="1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s-ES_tradnl" sz="1400" noProof="1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sz="1600" noProof="1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s-ES_tradnl" sz="1400" noProof="1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s-ES_tradnl" sz="1400" noProof="1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s-ES_tradnl" sz="14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s-ES_tradnl" sz="2000" noProof="1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s-ES_tradnl" sz="2000" noProof="1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Hardcover tiene el rating más bajo (3,99) pese a ser el 2º formato más valorado (26.502 valoraciones/libro). Los formatos digitales lideran en rating: Kindle 4,12 · ebook 4,07. Posible sesgo de selección: solo los títulos más populares se publican en digital.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s-ES_tradnl" sz="2000" noProof="1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ES_tradnl" sz="1200" noProof="1"/>
          </a:p>
        </p:txBody>
      </p:sp>
      <p:sp>
        <p:nvSpPr>
          <p:cNvPr id="9" name="Shape 7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Además, acumulan más valoraciones (~23.500 vs ~19.500), lo que sugiere fidelización del lector.</a:t>
            </a:r>
            <a:endParaRPr lang="es-ES_tradnl" sz="1300" noProof="1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217015A-2B0E-51E2-7171-87DB59038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1173190"/>
            <a:ext cx="4206647" cy="298732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7BECBEF-6FF9-74BE-74CA-18857A899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173192"/>
            <a:ext cx="4206646" cy="29873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s-ES_tradnl" sz="2000" noProof="1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s-ES_tradnl" sz="13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3600" b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s-ES_tradnl" sz="3600" noProof="1"/>
          </a:p>
        </p:txBody>
      </p:sp>
      <p:sp>
        <p:nvSpPr>
          <p:cNvPr id="18" name="Text 16"/>
          <p:cNvSpPr/>
          <p:nvPr/>
        </p:nvSpPr>
        <p:spPr>
          <a:xfrm>
            <a:off x="2980288" y="1940943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28" name="Shape 26"/>
          <p:cNvSpPr/>
          <p:nvPr/>
        </p:nvSpPr>
        <p:spPr>
          <a:xfrm>
            <a:off x="7136629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7136629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/>
          <p:nvPr/>
        </p:nvSpPr>
        <p:spPr>
          <a:xfrm>
            <a:off x="7136629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600" noProof="1"/>
          </a:p>
        </p:txBody>
      </p:sp>
      <p:sp>
        <p:nvSpPr>
          <p:cNvPr id="31" name="Text 29"/>
          <p:cNvSpPr/>
          <p:nvPr/>
        </p:nvSpPr>
        <p:spPr>
          <a:xfrm>
            <a:off x="7136629" y="1874520"/>
            <a:ext cx="1366425" cy="813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s-ES_tradnl" sz="1200" noProof="1"/>
          </a:p>
        </p:txBody>
      </p:sp>
      <p:sp>
        <p:nvSpPr>
          <p:cNvPr id="32" name="Shape 30"/>
          <p:cNvSpPr/>
          <p:nvPr/>
        </p:nvSpPr>
        <p:spPr>
          <a:xfrm>
            <a:off x="7237845" y="294160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Text 31"/>
          <p:cNvSpPr/>
          <p:nvPr/>
        </p:nvSpPr>
        <p:spPr>
          <a:xfrm>
            <a:off x="7237845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100" noProof="1"/>
          </a:p>
          <a:p>
            <a:pPr marL="0" indent="0" algn="ctr">
              <a:buNone/>
            </a:pPr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vs Premios 0,47</a:t>
            </a:r>
            <a:endParaRPr lang="es-ES_tradnl" sz="1100" noProof="1"/>
          </a:p>
        </p:txBody>
      </p:sp>
      <p:sp>
        <p:nvSpPr>
          <p:cNvPr id="40" name="Text 38"/>
          <p:cNvSpPr/>
          <p:nvPr/>
        </p:nvSpPr>
        <p:spPr>
          <a:xfrm>
            <a:off x="457200" y="4365253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i="1" noProof="1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s-ES_tradnl" sz="1300" noProof="1">
              <a:solidFill>
                <a:schemeClr val="accent4"/>
              </a:solidFill>
            </a:endParaRPr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DB840A-A14A-3E95-22AA-AD6C131CFEF9}"/>
              </a:ext>
            </a:extLst>
          </p:cNvPr>
          <p:cNvSpPr/>
          <p:nvPr/>
        </p:nvSpPr>
        <p:spPr>
          <a:xfrm>
            <a:off x="5546493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6" name="Shape 27">
            <a:extLst>
              <a:ext uri="{FF2B5EF4-FFF2-40B4-BE49-F238E27FC236}">
                <a16:creationId xmlns:a16="http://schemas.microsoft.com/office/drawing/2014/main" id="{60958BB3-3E20-7D99-2248-FA098048D698}"/>
              </a:ext>
            </a:extLst>
          </p:cNvPr>
          <p:cNvSpPr/>
          <p:nvPr/>
        </p:nvSpPr>
        <p:spPr>
          <a:xfrm>
            <a:off x="5546493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78D92796-2459-9210-CA95-6D8D5E5BB1FD}"/>
              </a:ext>
            </a:extLst>
          </p:cNvPr>
          <p:cNvSpPr/>
          <p:nvPr/>
        </p:nvSpPr>
        <p:spPr>
          <a:xfrm>
            <a:off x="5546493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600" noProof="1"/>
          </a:p>
        </p:txBody>
      </p:sp>
      <p:sp>
        <p:nvSpPr>
          <p:cNvPr id="39" name="Shape 30">
            <a:extLst>
              <a:ext uri="{FF2B5EF4-FFF2-40B4-BE49-F238E27FC236}">
                <a16:creationId xmlns:a16="http://schemas.microsoft.com/office/drawing/2014/main" id="{927C00F6-0E9B-9DDB-EBFE-7396374CCD28}"/>
              </a:ext>
            </a:extLst>
          </p:cNvPr>
          <p:cNvSpPr/>
          <p:nvPr/>
        </p:nvSpPr>
        <p:spPr>
          <a:xfrm>
            <a:off x="5647709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1">
            <a:extLst>
              <a:ext uri="{FF2B5EF4-FFF2-40B4-BE49-F238E27FC236}">
                <a16:creationId xmlns:a16="http://schemas.microsoft.com/office/drawing/2014/main" id="{71FC4CBD-C76F-4E47-DE90-42D118E5E0DC}"/>
              </a:ext>
            </a:extLst>
          </p:cNvPr>
          <p:cNvSpPr/>
          <p:nvPr/>
        </p:nvSpPr>
        <p:spPr>
          <a:xfrm>
            <a:off x="5647709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s-ES_tradnl" sz="1100" noProof="1"/>
          </a:p>
        </p:txBody>
      </p:sp>
      <p:sp>
        <p:nvSpPr>
          <p:cNvPr id="54" name="Text 23">
            <a:extLst>
              <a:ext uri="{FF2B5EF4-FFF2-40B4-BE49-F238E27FC236}">
                <a16:creationId xmlns:a16="http://schemas.microsoft.com/office/drawing/2014/main" id="{5D933D5D-A316-F5F3-25BD-16089175A2EB}"/>
              </a:ext>
            </a:extLst>
          </p:cNvPr>
          <p:cNvSpPr/>
          <p:nvPr/>
        </p:nvSpPr>
        <p:spPr>
          <a:xfrm>
            <a:off x="5612485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s-ES_tradnl" sz="1200" noProof="1"/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55" name="Shape 26">
            <a:extLst>
              <a:ext uri="{FF2B5EF4-FFF2-40B4-BE49-F238E27FC236}">
                <a16:creationId xmlns:a16="http://schemas.microsoft.com/office/drawing/2014/main" id="{B4BE5447-B210-EACD-92CA-15D2BA4C46C5}"/>
              </a:ext>
            </a:extLst>
          </p:cNvPr>
          <p:cNvSpPr/>
          <p:nvPr/>
        </p:nvSpPr>
        <p:spPr>
          <a:xfrm>
            <a:off x="3956357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6" name="Shape 27">
            <a:extLst>
              <a:ext uri="{FF2B5EF4-FFF2-40B4-BE49-F238E27FC236}">
                <a16:creationId xmlns:a16="http://schemas.microsoft.com/office/drawing/2014/main" id="{6EC4269B-10EE-B96F-3C65-9DB4F434BDCD}"/>
              </a:ext>
            </a:extLst>
          </p:cNvPr>
          <p:cNvSpPr/>
          <p:nvPr/>
        </p:nvSpPr>
        <p:spPr>
          <a:xfrm>
            <a:off x="3956357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7" name="Text 28">
            <a:extLst>
              <a:ext uri="{FF2B5EF4-FFF2-40B4-BE49-F238E27FC236}">
                <a16:creationId xmlns:a16="http://schemas.microsoft.com/office/drawing/2014/main" id="{1EFCCFA8-8B47-FA38-423B-21C657A4F0CF}"/>
              </a:ext>
            </a:extLst>
          </p:cNvPr>
          <p:cNvSpPr/>
          <p:nvPr/>
        </p:nvSpPr>
        <p:spPr>
          <a:xfrm>
            <a:off x="3956357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600" noProof="1"/>
          </a:p>
        </p:txBody>
      </p:sp>
      <p:sp>
        <p:nvSpPr>
          <p:cNvPr id="58" name="Shape 30">
            <a:extLst>
              <a:ext uri="{FF2B5EF4-FFF2-40B4-BE49-F238E27FC236}">
                <a16:creationId xmlns:a16="http://schemas.microsoft.com/office/drawing/2014/main" id="{5143E443-D2D2-3844-DF3D-BEE73F1E3756}"/>
              </a:ext>
            </a:extLst>
          </p:cNvPr>
          <p:cNvSpPr/>
          <p:nvPr/>
        </p:nvSpPr>
        <p:spPr>
          <a:xfrm>
            <a:off x="4057573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4B54170B-FF76-71B4-2CDB-4AF95E4C4638}"/>
              </a:ext>
            </a:extLst>
          </p:cNvPr>
          <p:cNvSpPr/>
          <p:nvPr/>
        </p:nvSpPr>
        <p:spPr>
          <a:xfrm>
            <a:off x="4057573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s-ES_tradnl" sz="1100" noProof="1"/>
          </a:p>
        </p:txBody>
      </p:sp>
      <p:sp>
        <p:nvSpPr>
          <p:cNvPr id="60" name="Text 23">
            <a:extLst>
              <a:ext uri="{FF2B5EF4-FFF2-40B4-BE49-F238E27FC236}">
                <a16:creationId xmlns:a16="http://schemas.microsoft.com/office/drawing/2014/main" id="{DF9F0431-5E63-DEE8-3CDA-02EE4C9BCA4B}"/>
              </a:ext>
            </a:extLst>
          </p:cNvPr>
          <p:cNvSpPr/>
          <p:nvPr/>
        </p:nvSpPr>
        <p:spPr>
          <a:xfrm>
            <a:off x="4022349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61" name="Shape 26">
            <a:extLst>
              <a:ext uri="{FF2B5EF4-FFF2-40B4-BE49-F238E27FC236}">
                <a16:creationId xmlns:a16="http://schemas.microsoft.com/office/drawing/2014/main" id="{7090FE61-4F9B-F7A1-DF7A-2CE70DFD1CBD}"/>
              </a:ext>
            </a:extLst>
          </p:cNvPr>
          <p:cNvSpPr/>
          <p:nvPr/>
        </p:nvSpPr>
        <p:spPr>
          <a:xfrm>
            <a:off x="2342215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2" name="Shape 27">
            <a:extLst>
              <a:ext uri="{FF2B5EF4-FFF2-40B4-BE49-F238E27FC236}">
                <a16:creationId xmlns:a16="http://schemas.microsoft.com/office/drawing/2014/main" id="{8B946A44-1090-738D-BBFC-0D9D28C888C7}"/>
              </a:ext>
            </a:extLst>
          </p:cNvPr>
          <p:cNvSpPr/>
          <p:nvPr/>
        </p:nvSpPr>
        <p:spPr>
          <a:xfrm>
            <a:off x="2342215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F4D65A32-0EFA-BB61-3B33-06663641D5DC}"/>
              </a:ext>
            </a:extLst>
          </p:cNvPr>
          <p:cNvSpPr/>
          <p:nvPr/>
        </p:nvSpPr>
        <p:spPr>
          <a:xfrm>
            <a:off x="2342215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600" noProof="1"/>
          </a:p>
        </p:txBody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14D372EE-8D1B-A68B-5F0B-A772F708944B}"/>
              </a:ext>
            </a:extLst>
          </p:cNvPr>
          <p:cNvSpPr/>
          <p:nvPr/>
        </p:nvSpPr>
        <p:spPr>
          <a:xfrm>
            <a:off x="2443431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7DC5D4E5-E7D0-664D-056D-8E7A88497B9E}"/>
              </a:ext>
            </a:extLst>
          </p:cNvPr>
          <p:cNvSpPr/>
          <p:nvPr/>
        </p:nvSpPr>
        <p:spPr>
          <a:xfrm>
            <a:off x="2443431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s-ES_tradnl" sz="1100" noProof="1"/>
          </a:p>
        </p:txBody>
      </p:sp>
      <p:sp>
        <p:nvSpPr>
          <p:cNvPr id="66" name="Text 23">
            <a:extLst>
              <a:ext uri="{FF2B5EF4-FFF2-40B4-BE49-F238E27FC236}">
                <a16:creationId xmlns:a16="http://schemas.microsoft.com/office/drawing/2014/main" id="{78CA5EEE-8C88-46AA-E64F-20A1EBE00CCC}"/>
              </a:ext>
            </a:extLst>
          </p:cNvPr>
          <p:cNvSpPr/>
          <p:nvPr/>
        </p:nvSpPr>
        <p:spPr>
          <a:xfrm>
            <a:off x="2408207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Harcover</a:t>
            </a:r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421099B6-4B37-2319-E9AF-3E389D5C1F7C}"/>
              </a:ext>
            </a:extLst>
          </p:cNvPr>
          <p:cNvSpPr/>
          <p:nvPr/>
        </p:nvSpPr>
        <p:spPr>
          <a:xfrm>
            <a:off x="728074" y="1371599"/>
            <a:ext cx="1366425" cy="2846717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8" name="Shape 27">
            <a:extLst>
              <a:ext uri="{FF2B5EF4-FFF2-40B4-BE49-F238E27FC236}">
                <a16:creationId xmlns:a16="http://schemas.microsoft.com/office/drawing/2014/main" id="{3C9A160E-A9B9-B7AF-A489-FB25F38AA80D}"/>
              </a:ext>
            </a:extLst>
          </p:cNvPr>
          <p:cNvSpPr/>
          <p:nvPr/>
        </p:nvSpPr>
        <p:spPr>
          <a:xfrm>
            <a:off x="728074" y="1371600"/>
            <a:ext cx="1366425" cy="508342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9" name="Text 28">
            <a:extLst>
              <a:ext uri="{FF2B5EF4-FFF2-40B4-BE49-F238E27FC236}">
                <a16:creationId xmlns:a16="http://schemas.microsoft.com/office/drawing/2014/main" id="{ABD03977-F9A1-F9B8-028E-661D7C879806}"/>
              </a:ext>
            </a:extLst>
          </p:cNvPr>
          <p:cNvSpPr/>
          <p:nvPr/>
        </p:nvSpPr>
        <p:spPr>
          <a:xfrm>
            <a:off x="728074" y="1371600"/>
            <a:ext cx="1366425" cy="508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6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600" noProof="1"/>
          </a:p>
        </p:txBody>
      </p:sp>
      <p:sp>
        <p:nvSpPr>
          <p:cNvPr id="70" name="Shape 30">
            <a:extLst>
              <a:ext uri="{FF2B5EF4-FFF2-40B4-BE49-F238E27FC236}">
                <a16:creationId xmlns:a16="http://schemas.microsoft.com/office/drawing/2014/main" id="{2A6EACFB-5CBA-A677-84E3-424DED1F18A5}"/>
              </a:ext>
            </a:extLst>
          </p:cNvPr>
          <p:cNvSpPr/>
          <p:nvPr/>
        </p:nvSpPr>
        <p:spPr>
          <a:xfrm>
            <a:off x="829290" y="2928667"/>
            <a:ext cx="1163992" cy="711679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1" name="Text 31">
            <a:extLst>
              <a:ext uri="{FF2B5EF4-FFF2-40B4-BE49-F238E27FC236}">
                <a16:creationId xmlns:a16="http://schemas.microsoft.com/office/drawing/2014/main" id="{E11A4441-3F35-E1CC-757B-3383575FCB05}"/>
              </a:ext>
            </a:extLst>
          </p:cNvPr>
          <p:cNvSpPr/>
          <p:nvPr/>
        </p:nvSpPr>
        <p:spPr>
          <a:xfrm>
            <a:off x="829290" y="2941607"/>
            <a:ext cx="1163992" cy="7116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s-ES_tradnl" sz="1100" noProof="1"/>
          </a:p>
          <a:p>
            <a:pPr algn="ctr"/>
            <a:r>
              <a:rPr lang="es-ES_tradnl" sz="11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s-ES_tradnl" sz="1100" noProof="1"/>
          </a:p>
        </p:txBody>
      </p:sp>
      <p:sp>
        <p:nvSpPr>
          <p:cNvPr id="72" name="Text 23">
            <a:extLst>
              <a:ext uri="{FF2B5EF4-FFF2-40B4-BE49-F238E27FC236}">
                <a16:creationId xmlns:a16="http://schemas.microsoft.com/office/drawing/2014/main" id="{DA3169DF-A825-E72C-02BF-B4BF89AA189E}"/>
              </a:ext>
            </a:extLst>
          </p:cNvPr>
          <p:cNvSpPr/>
          <p:nvPr/>
        </p:nvSpPr>
        <p:spPr>
          <a:xfrm>
            <a:off x="794066" y="208788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</a:p>
          <a:p>
            <a:pPr marL="0" indent="0" algn="ctr">
              <a:buNone/>
            </a:pPr>
            <a:r>
              <a:rPr lang="es-ES_tradnl" sz="1200" noProof="1">
                <a:solidFill>
                  <a:srgbClr val="FDF6EC"/>
                </a:solidFill>
                <a:latin typeface="Calibri" pitchFamily="34" charset="0"/>
                <a:cs typeface="Calibri" pitchFamily="34" charset="-120"/>
              </a:rPr>
              <a:t>vs Rating</a:t>
            </a:r>
            <a:endParaRPr lang="es-ES_tradnl" sz="12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6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s-ES_tradnl" sz="6400" noProof="1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</a:t>
            </a:r>
            <a:endParaRPr lang="es-ES_tradnl" sz="1300" noProof="1"/>
          </a:p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s-ES_tradnl" sz="1300" noProof="1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2400" i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s-ES_tradnl" sz="2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682</Words>
  <Application>Microsoft Macintosh PowerPoint</Application>
  <PresentationFormat>Presentación en pantalla (16:9)</PresentationFormat>
  <Paragraphs>108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21</cp:revision>
  <dcterms:created xsi:type="dcterms:W3CDTF">2026-04-12T11:05:01Z</dcterms:created>
  <dcterms:modified xsi:type="dcterms:W3CDTF">2026-04-15T11:27:26Z</dcterms:modified>
</cp:coreProperties>
</file>