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8708"/>
    <a:srgbClr val="FDF7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 y por qué este dataset?</a:t>
            </a:r>
            <a:endParaRPr lang="es-ES_tradnl" sz="2200" noProof="1"/>
          </a:p>
        </p:txBody>
      </p:sp>
      <p:sp>
        <p:nvSpPr>
          <p:cNvPr id="5" name="Text 3"/>
          <p:cNvSpPr/>
          <p:nvPr/>
        </p:nvSpPr>
        <p:spPr>
          <a:xfrm>
            <a:off x="502920" y="163449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la mayor red social de lectores del mundo, con más de 150 millones de usuarios.</a:t>
            </a:r>
            <a:endParaRPr lang="es-ES_tradnl" sz="1400" noProof="1"/>
          </a:p>
          <a:p>
            <a:pPr marL="0" indent="0" algn="l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descargado de Kaggle, recoge 52.478 de sus mejores libros según sus listas, con información sobre ratings, géneros, premios y más.</a:t>
            </a:r>
            <a:endParaRPr lang="es-ES_tradnl" sz="1400" noProof="1"/>
          </a:p>
        </p:txBody>
      </p:sp>
      <p:sp>
        <p:nvSpPr>
          <p:cNvPr id="6" name="Shape 4"/>
          <p:cNvSpPr/>
          <p:nvPr/>
        </p:nvSpPr>
        <p:spPr>
          <a:xfrm>
            <a:off x="502920" y="272034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28117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2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s-ES_tradnl" sz="2600" noProof="1"/>
          </a:p>
        </p:txBody>
      </p:sp>
      <p:sp>
        <p:nvSpPr>
          <p:cNvPr id="8" name="Text 6"/>
          <p:cNvSpPr/>
          <p:nvPr/>
        </p:nvSpPr>
        <p:spPr>
          <a:xfrm>
            <a:off x="502920" y="34518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s-ES_tradnl" sz="1100" noProof="1"/>
          </a:p>
        </p:txBody>
      </p:sp>
      <p:sp>
        <p:nvSpPr>
          <p:cNvPr id="9" name="Shape 7"/>
          <p:cNvSpPr/>
          <p:nvPr/>
        </p:nvSpPr>
        <p:spPr>
          <a:xfrm>
            <a:off x="2651760" y="272034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2651760" y="28117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2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s-ES_tradnl" sz="2600" noProof="1"/>
          </a:p>
        </p:txBody>
      </p:sp>
      <p:sp>
        <p:nvSpPr>
          <p:cNvPr id="11" name="Text 9"/>
          <p:cNvSpPr/>
          <p:nvPr/>
        </p:nvSpPr>
        <p:spPr>
          <a:xfrm>
            <a:off x="2651760" y="34518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s-ES_tradnl" sz="1100" noProof="1"/>
          </a:p>
        </p:txBody>
      </p:sp>
      <p:sp>
        <p:nvSpPr>
          <p:cNvPr id="12" name="Shape 10"/>
          <p:cNvSpPr/>
          <p:nvPr/>
        </p:nvSpPr>
        <p:spPr>
          <a:xfrm>
            <a:off x="4800600" y="272034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800600" y="28117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2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s-ES_tradnl" sz="2600" noProof="1"/>
          </a:p>
        </p:txBody>
      </p:sp>
      <p:sp>
        <p:nvSpPr>
          <p:cNvPr id="14" name="Text 12"/>
          <p:cNvSpPr/>
          <p:nvPr/>
        </p:nvSpPr>
        <p:spPr>
          <a:xfrm>
            <a:off x="4800600" y="34518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</a:t>
            </a:r>
            <a:endParaRPr lang="es-ES_tradnl" sz="1100" noProof="1"/>
          </a:p>
        </p:txBody>
      </p:sp>
      <p:sp>
        <p:nvSpPr>
          <p:cNvPr id="15" name="Shape 13"/>
          <p:cNvSpPr/>
          <p:nvPr/>
        </p:nvSpPr>
        <p:spPr>
          <a:xfrm>
            <a:off x="6949440" y="272034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949440" y="28117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2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s-ES_tradnl" sz="2600" noProof="1"/>
          </a:p>
        </p:txBody>
      </p:sp>
      <p:sp>
        <p:nvSpPr>
          <p:cNvPr id="17" name="Text 15"/>
          <p:cNvSpPr/>
          <p:nvPr/>
        </p:nvSpPr>
        <p:spPr>
          <a:xfrm>
            <a:off x="6949440" y="34518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planteadas</a:t>
            </a:r>
            <a:endParaRPr lang="es-ES_tradnl" sz="1100" noProof="1"/>
          </a:p>
        </p:txBody>
      </p:sp>
      <p:sp>
        <p:nvSpPr>
          <p:cNvPr id="18" name="Text 16"/>
          <p:cNvSpPr/>
          <p:nvPr/>
        </p:nvSpPr>
        <p:spPr>
          <a:xfrm>
            <a:off x="502920" y="43662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100" i="1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s-ES_tradnl" sz="1100" noProof="1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05352762-32D7-2476-999E-219F579C423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/>
        </p:blipFill>
        <p:spPr>
          <a:xfrm>
            <a:off x="586322" y="1039003"/>
            <a:ext cx="2415539" cy="601201"/>
          </a:xfrm>
          <a:prstGeom prst="rect">
            <a:avLst/>
          </a:prstGeom>
          <a:noFill/>
          <a:effectLst/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BCE76F0-21FF-264F-2088-21C2D259BF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705" b="17705"/>
          <a:stretch/>
        </p:blipFill>
        <p:spPr>
          <a:xfrm>
            <a:off x="7094220" y="1003266"/>
            <a:ext cx="1821180" cy="782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1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1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1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1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300" noProof="1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200" noProof="1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200" noProof="1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200" noProof="1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200" noProof="1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2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300" noProof="1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200" noProof="1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200" noProof="1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200" noProof="1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200" noProof="1"/>
          </a:p>
        </p:txBody>
      </p:sp>
      <p:sp>
        <p:nvSpPr>
          <p:cNvPr id="18" name="Text 16"/>
          <p:cNvSpPr/>
          <p:nvPr/>
        </p:nvSpPr>
        <p:spPr>
          <a:xfrm>
            <a:off x="4800600" y="3127549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  <a:p>
            <a:pPr marL="342900" indent="-342900" algn="l">
              <a:buNone/>
            </a:pPr>
            <a:endParaRPr lang="es-ES_tradnl" sz="1200" noProof="1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2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2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2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El Hardcover obtiene el rating más bajo (3,99). Los formatos digitales (Kindle 4,12 / ebook 4,07) lideran. El Mass Market Paperback es el más valorado por número de reseñas.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200" noProof="1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157A3F-A59F-92E2-405D-68FDB93D6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51560"/>
            <a:ext cx="437792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4" name="Shape 2"/>
          <p:cNvSpPr/>
          <p:nvPr/>
        </p:nvSpPr>
        <p:spPr>
          <a:xfrm>
            <a:off x="128016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Shape 3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8" name="Shape 6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000" noProof="1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3" name="Text 11"/>
          <p:cNvSpPr/>
          <p:nvPr/>
        </p:nvSpPr>
        <p:spPr>
          <a:xfrm>
            <a:off x="269748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14" name="Shape 12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000" noProof="1"/>
          </a:p>
        </p:txBody>
      </p:sp>
      <p:sp>
        <p:nvSpPr>
          <p:cNvPr id="16" name="Shape 14"/>
          <p:cNvSpPr/>
          <p:nvPr/>
        </p:nvSpPr>
        <p:spPr>
          <a:xfrm>
            <a:off x="411480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Shape 15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8" name="Text 16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9" name="Text 17"/>
          <p:cNvSpPr/>
          <p:nvPr/>
        </p:nvSpPr>
        <p:spPr>
          <a:xfrm>
            <a:off x="411480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0" name="Shape 18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000" noProof="1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Shape 21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4" name="Text 22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5" name="Text 23"/>
          <p:cNvSpPr/>
          <p:nvPr/>
        </p:nvSpPr>
        <p:spPr>
          <a:xfrm>
            <a:off x="553212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6" name="Shape 24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000" noProof="1"/>
          </a:p>
        </p:txBody>
      </p:sp>
      <p:sp>
        <p:nvSpPr>
          <p:cNvPr id="28" name="Shape 26"/>
          <p:cNvSpPr/>
          <p:nvPr/>
        </p:nvSpPr>
        <p:spPr>
          <a:xfrm>
            <a:off x="694944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31" name="Text 29"/>
          <p:cNvSpPr/>
          <p:nvPr/>
        </p:nvSpPr>
        <p:spPr>
          <a:xfrm>
            <a:off x="694944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000" noProof="1"/>
          </a:p>
        </p:txBody>
      </p:sp>
      <p:sp>
        <p:nvSpPr>
          <p:cNvPr id="32" name="Shape 30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s-ES_tradnl" sz="1000" noProof="1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200" i="1" noProof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200" noProof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585</Words>
  <Application>Microsoft Macintosh PowerPoint</Application>
  <PresentationFormat>Presentación en pantalla (16:9)</PresentationFormat>
  <Paragraphs>97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10</cp:revision>
  <dcterms:created xsi:type="dcterms:W3CDTF">2026-04-12T11:05:01Z</dcterms:created>
  <dcterms:modified xsi:type="dcterms:W3CDTF">2026-04-14T19:15:11Z</dcterms:modified>
</cp:coreProperties>
</file>