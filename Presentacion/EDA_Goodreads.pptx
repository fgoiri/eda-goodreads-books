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4"/>
  </p:notesMasterIdLst>
  <p:sldIdLst>
    <p:sldId id="256" r:id="rId2"/>
    <p:sldId id="268" r:id="rId3"/>
    <p:sldId id="269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6" r:id="rId12"/>
    <p:sldId id="267" r:id="rId13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F7EC"/>
    <a:srgbClr val="C8870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0647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184" y="8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87565803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914400"/>
            <a:ext cx="77724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Análisis Exploratorio</a:t>
            </a:r>
            <a:endParaRPr lang="es-ES_tradnl" sz="4400" noProof="1"/>
          </a:p>
          <a:p>
            <a:pPr marL="0" indent="0" algn="l">
              <a:buNone/>
            </a:pPr>
            <a:r>
              <a:rPr lang="es-ES_tradnl" sz="4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de Datos</a:t>
            </a:r>
            <a:endParaRPr lang="es-ES_tradnl" sz="4400" noProof="1"/>
          </a:p>
        </p:txBody>
      </p:sp>
      <p:sp>
        <p:nvSpPr>
          <p:cNvPr id="4" name="Text 2"/>
          <p:cNvSpPr/>
          <p:nvPr/>
        </p:nvSpPr>
        <p:spPr>
          <a:xfrm>
            <a:off x="640080" y="283464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📚 Dataset: Goodreads </a:t>
            </a:r>
            <a:r>
              <a:rPr lang="es-ES_tradnl" sz="18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</a:t>
            </a:r>
            <a:r>
              <a:rPr lang="es-ES_tradnl" sz="1800" noProof="1">
                <a:solidFill>
                  <a:srgbClr val="C886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Books (52k libros)</a:t>
            </a:r>
            <a:endParaRPr lang="es-ES_tradnl" sz="1800" noProof="1"/>
          </a:p>
        </p:txBody>
      </p:sp>
      <p:sp>
        <p:nvSpPr>
          <p:cNvPr id="5" name="Shape 3"/>
          <p:cNvSpPr/>
          <p:nvPr/>
        </p:nvSpPr>
        <p:spPr>
          <a:xfrm>
            <a:off x="640080" y="2788920"/>
            <a:ext cx="5486400" cy="36576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640080" y="4389120"/>
            <a:ext cx="7772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es-ES_tradnl" sz="1200" noProof="1">
                <a:solidFill>
                  <a:srgbClr val="C8870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EDA | Bootcamp Data Science • Fátima Goiri • 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Goodreads?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20" y="1628588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Goodreads es una red social orientada a la lectura fundada en 2007 y adquirida por Amazon en 2013. Con más de 150 millones de usuarios, es la mayor plataforma de referencia para lectores y escritores del mundo.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Permite descubrir libros, valorarlos, escribir reseñas y organizar listas personales. Sus rankings y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listas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</a:t>
            </a:r>
            <a:r>
              <a:rPr lang="en-US" sz="1400" dirty="0" err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recogen</a:t>
            </a: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los libros mejor valorados por la comunidad.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2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2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150M+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2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Usuarios registrados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6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6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3.000M+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6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 totales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60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60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60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en Best Books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40" y="2817308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40" y="2908748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2007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40" y="3548828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Año de fundación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25780" y="4326068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Funcionalidades: catálogo de libros · valoraciones y reseñas · listas personales · rankings · comunidad social · seguimiento de lectura</a:t>
            </a:r>
            <a:endParaRPr lang="en-US" sz="1100" dirty="0"/>
          </a:p>
        </p:txBody>
      </p:sp>
      <p:pic>
        <p:nvPicPr>
          <p:cNvPr id="19" name="Imagen 18">
            <a:extLst>
              <a:ext uri="{FF2B5EF4-FFF2-40B4-BE49-F238E27FC236}">
                <a16:creationId xmlns:a16="http://schemas.microsoft.com/office/drawing/2014/main" id="{AF0C3784-8EAD-FD36-EC38-B033E6C5D6C8}"/>
              </a:ext>
            </a:extLst>
          </p:cNvPr>
          <p:cNvPicPr>
            <a:picLocks noChangeAspect="1"/>
          </p:cNvPicPr>
          <p:nvPr/>
        </p:nvPicPr>
        <p:blipFill>
          <a:blip r:embed="rId2">
            <a:alphaModFix/>
          </a:blip>
          <a:srcRect/>
          <a:stretch/>
        </p:blipFill>
        <p:spPr>
          <a:xfrm>
            <a:off x="3501390" y="981667"/>
            <a:ext cx="2415539" cy="601201"/>
          </a:xfrm>
          <a:prstGeom prst="rect">
            <a:avLst/>
          </a:prstGeom>
          <a:noFill/>
          <a:effectLst/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DF7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200" b="1" dirty="0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¿Qué es Kaggle? El dataset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502919" y="1805940"/>
            <a:ext cx="841248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es la plataforma de ciencia de datos de Google. Ofrece datasets públicos, notebooks en la nube, competiciones con premios y una gran comunidad de científicos de datos.</a:t>
            </a:r>
            <a:endParaRPr lang="en-US" sz="1400" dirty="0"/>
          </a:p>
          <a:p>
            <a:pPr marL="0" indent="0" algn="l">
              <a:buNone/>
            </a:pPr>
            <a:r>
              <a:rPr lang="en-US" sz="1400" dirty="0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dataset utilizado es "Comprehensive Overview of 52.478 GoodReads Best Books" publicado por The Devastator. Recoge los mejores libros de Goodreads con ratings, géneros, premios, páginas y más.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50291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7" name="Text 5"/>
          <p:cNvSpPr/>
          <p:nvPr/>
        </p:nvSpPr>
        <p:spPr>
          <a:xfrm>
            <a:off x="50291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52.478</a:t>
            </a:r>
            <a:endParaRPr lang="en-US" sz="2600" dirty="0"/>
          </a:p>
        </p:txBody>
      </p:sp>
      <p:sp>
        <p:nvSpPr>
          <p:cNvPr id="8" name="Text 6"/>
          <p:cNvSpPr/>
          <p:nvPr/>
        </p:nvSpPr>
        <p:spPr>
          <a:xfrm>
            <a:off x="50291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Libros originales</a:t>
            </a:r>
            <a:endParaRPr lang="en-US" sz="1100" dirty="0"/>
          </a:p>
        </p:txBody>
      </p:sp>
      <p:sp>
        <p:nvSpPr>
          <p:cNvPr id="9" name="Shape 7"/>
          <p:cNvSpPr/>
          <p:nvPr/>
        </p:nvSpPr>
        <p:spPr>
          <a:xfrm>
            <a:off x="265175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0" name="Text 8"/>
          <p:cNvSpPr/>
          <p:nvPr/>
        </p:nvSpPr>
        <p:spPr>
          <a:xfrm>
            <a:off x="265175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~49.000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265175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Tras limpieza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80059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3" name="Text 11"/>
          <p:cNvSpPr/>
          <p:nvPr/>
        </p:nvSpPr>
        <p:spPr>
          <a:xfrm>
            <a:off x="480059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25</a:t>
            </a:r>
            <a:endParaRPr lang="en-US" sz="2600" dirty="0"/>
          </a:p>
        </p:txBody>
      </p:sp>
      <p:sp>
        <p:nvSpPr>
          <p:cNvPr id="14" name="Text 12"/>
          <p:cNvSpPr/>
          <p:nvPr/>
        </p:nvSpPr>
        <p:spPr>
          <a:xfrm>
            <a:off x="480059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Columnas originales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6949439" y="2994660"/>
            <a:ext cx="19202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C8860A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"/>
          </a:p>
        </p:txBody>
      </p:sp>
      <p:sp>
        <p:nvSpPr>
          <p:cNvPr id="16" name="Text 14"/>
          <p:cNvSpPr/>
          <p:nvPr/>
        </p:nvSpPr>
        <p:spPr>
          <a:xfrm>
            <a:off x="6949439" y="3086100"/>
            <a:ext cx="1920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10/10</a:t>
            </a:r>
            <a:endParaRPr lang="en-US" sz="2600" dirty="0"/>
          </a:p>
        </p:txBody>
      </p:sp>
      <p:sp>
        <p:nvSpPr>
          <p:cNvPr id="17" name="Text 15"/>
          <p:cNvSpPr/>
          <p:nvPr/>
        </p:nvSpPr>
        <p:spPr>
          <a:xfrm>
            <a:off x="6949439" y="3726180"/>
            <a:ext cx="1920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n-US" sz="1100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Usabilidad Kaggle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502920" y="4366260"/>
            <a:ext cx="84124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n-US" sz="1100" i="1" dirty="0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Variables principales: title · author · rating · numRatings · genres · pages · bookFormat · awards · language · likedPercent · bbeScore</a:t>
            </a:r>
            <a:endParaRPr lang="en-US" sz="1100" dirty="0"/>
          </a:p>
        </p:txBody>
      </p:sp>
      <p:pic>
        <p:nvPicPr>
          <p:cNvPr id="20" name="Imagen 19">
            <a:extLst>
              <a:ext uri="{FF2B5EF4-FFF2-40B4-BE49-F238E27FC236}">
                <a16:creationId xmlns:a16="http://schemas.microsoft.com/office/drawing/2014/main" id="{B1EBA698-67FE-D8F6-C9AA-FEFE0343A78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t="19016" b="19016"/>
          <a:stretch/>
        </p:blipFill>
        <p:spPr>
          <a:xfrm>
            <a:off x="3507288" y="973890"/>
            <a:ext cx="2129421" cy="87809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Hipótesis planteadas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6" name="Shape 4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7" name="Text 5"/>
          <p:cNvSpPr/>
          <p:nvPr/>
        </p:nvSpPr>
        <p:spPr>
          <a:xfrm>
            <a:off x="50292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8" name="Text 6"/>
          <p:cNvSpPr/>
          <p:nvPr/>
        </p:nvSpPr>
        <p:spPr>
          <a:xfrm>
            <a:off x="109728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con más páginas tienen mejor rating</a:t>
            </a:r>
            <a:endParaRPr lang="es-ES_tradnl" sz="1100" noProof="1"/>
          </a:p>
        </p:txBody>
      </p:sp>
      <p:sp>
        <p:nvSpPr>
          <p:cNvPr id="9" name="Shape 7"/>
          <p:cNvSpPr/>
          <p:nvPr/>
        </p:nvSpPr>
        <p:spPr>
          <a:xfrm>
            <a:off x="4800600" y="128016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Shape 8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Text 9"/>
          <p:cNvSpPr/>
          <p:nvPr/>
        </p:nvSpPr>
        <p:spPr>
          <a:xfrm>
            <a:off x="4800600" y="128016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2" name="Text 10"/>
          <p:cNvSpPr/>
          <p:nvPr/>
        </p:nvSpPr>
        <p:spPr>
          <a:xfrm>
            <a:off x="5394960" y="128016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libros en formato Hardcover tienen mejor rating</a:t>
            </a:r>
            <a:endParaRPr lang="es-ES_tradnl" sz="1100" noProof="1"/>
          </a:p>
        </p:txBody>
      </p:sp>
      <p:sp>
        <p:nvSpPr>
          <p:cNvPr id="13" name="Shape 11"/>
          <p:cNvSpPr/>
          <p:nvPr/>
        </p:nvSpPr>
        <p:spPr>
          <a:xfrm>
            <a:off x="50292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Shape 12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50292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6" name="Text 14"/>
          <p:cNvSpPr/>
          <p:nvPr/>
        </p:nvSpPr>
        <p:spPr>
          <a:xfrm>
            <a:off x="109728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Las series tienen mejores ratings que los libros individuales</a:t>
            </a:r>
            <a:endParaRPr lang="es-ES_tradnl" sz="1100" noProof="1"/>
          </a:p>
        </p:txBody>
      </p:sp>
      <p:sp>
        <p:nvSpPr>
          <p:cNvPr id="17" name="Shape 15"/>
          <p:cNvSpPr/>
          <p:nvPr/>
        </p:nvSpPr>
        <p:spPr>
          <a:xfrm>
            <a:off x="4800600" y="246888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8" name="Shape 16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9" name="Text 17"/>
          <p:cNvSpPr/>
          <p:nvPr/>
        </p:nvSpPr>
        <p:spPr>
          <a:xfrm>
            <a:off x="4800600" y="246888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0" name="Text 18"/>
          <p:cNvSpPr/>
          <p:nvPr/>
        </p:nvSpPr>
        <p:spPr>
          <a:xfrm>
            <a:off x="5394960" y="246888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concentran la mayoría de las valoraciones</a:t>
            </a:r>
            <a:endParaRPr lang="es-ES_tradnl" sz="1100" noProof="1"/>
          </a:p>
        </p:txBody>
      </p:sp>
      <p:sp>
        <p:nvSpPr>
          <p:cNvPr id="21" name="Shape 19"/>
          <p:cNvSpPr/>
          <p:nvPr/>
        </p:nvSpPr>
        <p:spPr>
          <a:xfrm>
            <a:off x="2766060" y="3657600"/>
            <a:ext cx="393192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22" name="Shape 20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Text 21"/>
          <p:cNvSpPr/>
          <p:nvPr/>
        </p:nvSpPr>
        <p:spPr>
          <a:xfrm>
            <a:off x="2766060" y="3657600"/>
            <a:ext cx="5029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24" name="Text 22"/>
          <p:cNvSpPr/>
          <p:nvPr/>
        </p:nvSpPr>
        <p:spPr>
          <a:xfrm>
            <a:off x="3360420" y="3657600"/>
            <a:ext cx="324612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1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 autores populares tienen más premios</a:t>
            </a:r>
            <a:endParaRPr lang="es-ES_tradnl" sz="1100" noProof="1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Proceso de limpieza de datos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50292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Columnas eliminadas</a:t>
            </a:r>
            <a:endParaRPr lang="es-ES_tradnl" sz="1300" noProof="1"/>
          </a:p>
        </p:txBody>
      </p:sp>
      <p:sp>
        <p:nvSpPr>
          <p:cNvPr id="7" name="Text 5"/>
          <p:cNvSpPr/>
          <p:nvPr/>
        </p:nvSpPr>
        <p:spPr>
          <a:xfrm>
            <a:off x="59436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isbn, bookId, coverImg</a:t>
            </a:r>
            <a:endParaRPr lang="es-ES_tradnl" sz="1200" noProof="1"/>
          </a:p>
        </p:txBody>
      </p:sp>
      <p:sp>
        <p:nvSpPr>
          <p:cNvPr id="8" name="Text 6"/>
          <p:cNvSpPr/>
          <p:nvPr/>
        </p:nvSpPr>
        <p:spPr>
          <a:xfrm>
            <a:off x="59436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series (reemplazada por is_series)</a:t>
            </a:r>
            <a:endParaRPr lang="es-ES_tradnl" sz="1200" noProof="1"/>
          </a:p>
        </p:txBody>
      </p:sp>
      <p:sp>
        <p:nvSpPr>
          <p:cNvPr id="9" name="Text 7"/>
          <p:cNvSpPr/>
          <p:nvPr/>
        </p:nvSpPr>
        <p:spPr>
          <a:xfrm>
            <a:off x="59436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description, characters</a:t>
            </a:r>
            <a:endParaRPr lang="es-ES_tradnl" sz="1200" noProof="1"/>
          </a:p>
        </p:txBody>
      </p:sp>
      <p:sp>
        <p:nvSpPr>
          <p:cNvPr id="10" name="Text 8"/>
          <p:cNvSpPr/>
          <p:nvPr/>
        </p:nvSpPr>
        <p:spPr>
          <a:xfrm>
            <a:off x="59436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edition, firstPublishDate, price</a:t>
            </a:r>
            <a:endParaRPr lang="es-ES_tradnl" sz="1200" noProof="1"/>
          </a:p>
        </p:txBody>
      </p:sp>
      <p:sp>
        <p:nvSpPr>
          <p:cNvPr id="11" name="Text 9"/>
          <p:cNvSpPr/>
          <p:nvPr/>
        </p:nvSpPr>
        <p:spPr>
          <a:xfrm>
            <a:off x="594360" y="3044952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Filas con rating = 0 o nulos en géneros</a:t>
            </a:r>
            <a:endParaRPr lang="es-ES_tradnl" sz="1200" noProof="1"/>
          </a:p>
        </p:txBody>
      </p:sp>
      <p:sp>
        <p:nvSpPr>
          <p:cNvPr id="12" name="Shape 10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solidFill>
            <a:srgbClr val="4A7C59"/>
          </a:solidFill>
          <a:ln w="12700">
            <a:solidFill>
              <a:srgbClr val="4A7C59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3" name="Text 11"/>
          <p:cNvSpPr/>
          <p:nvPr/>
        </p:nvSpPr>
        <p:spPr>
          <a:xfrm>
            <a:off x="4709160" y="100584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Transformaciones aplicadas</a:t>
            </a:r>
            <a:endParaRPr lang="es-ES_tradnl" sz="1300" noProof="1"/>
          </a:p>
        </p:txBody>
      </p:sp>
      <p:sp>
        <p:nvSpPr>
          <p:cNvPr id="14" name="Text 12"/>
          <p:cNvSpPr/>
          <p:nvPr/>
        </p:nvSpPr>
        <p:spPr>
          <a:xfrm>
            <a:off x="4800600" y="1508760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Filtrado por bookFormat (5 formatos válidos)</a:t>
            </a:r>
            <a:endParaRPr lang="es-ES_tradnl" sz="1200" noProof="1"/>
          </a:p>
        </p:txBody>
      </p:sp>
      <p:sp>
        <p:nvSpPr>
          <p:cNvPr id="15" name="Text 13"/>
          <p:cNvSpPr/>
          <p:nvPr/>
        </p:nvSpPr>
        <p:spPr>
          <a:xfrm>
            <a:off x="4800600" y="1892808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Eliminación de box sets (#X-Y en series)</a:t>
            </a:r>
            <a:endParaRPr lang="es-ES_tradnl" sz="1200" noProof="1"/>
          </a:p>
        </p:txBody>
      </p:sp>
      <p:sp>
        <p:nvSpPr>
          <p:cNvPr id="16" name="Text 14"/>
          <p:cNvSpPr/>
          <p:nvPr/>
        </p:nvSpPr>
        <p:spPr>
          <a:xfrm>
            <a:off x="4800600" y="2276856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Nueva variable is_series (True/False)</a:t>
            </a:r>
            <a:endParaRPr lang="es-ES_tradnl" sz="1200" noProof="1"/>
          </a:p>
        </p:txBody>
      </p:sp>
      <p:sp>
        <p:nvSpPr>
          <p:cNvPr id="17" name="Text 15"/>
          <p:cNvSpPr/>
          <p:nvPr/>
        </p:nvSpPr>
        <p:spPr>
          <a:xfrm>
            <a:off x="4800600" y="2660904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Limpieza de columna author → main_author</a:t>
            </a:r>
            <a:endParaRPr lang="es-ES_tradnl" sz="1200" noProof="1"/>
          </a:p>
        </p:txBody>
      </p:sp>
      <p:sp>
        <p:nvSpPr>
          <p:cNvPr id="18" name="Text 16"/>
          <p:cNvSpPr/>
          <p:nvPr/>
        </p:nvSpPr>
        <p:spPr>
          <a:xfrm>
            <a:off x="4800600" y="3127549"/>
            <a:ext cx="3749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 Conversión de pages a numérico</a:t>
            </a:r>
          </a:p>
          <a:p>
            <a:pPr marL="342900" indent="-342900" algn="l">
              <a:buNone/>
            </a:pPr>
            <a:endParaRPr lang="es-ES_tradnl" sz="1200" noProof="1"/>
          </a:p>
        </p:txBody>
      </p:sp>
      <p:sp>
        <p:nvSpPr>
          <p:cNvPr id="19" name="Shape 17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0" name="Text 18"/>
          <p:cNvSpPr/>
          <p:nvPr/>
        </p:nvSpPr>
        <p:spPr>
          <a:xfrm>
            <a:off x="502920" y="4297680"/>
            <a:ext cx="8138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8B451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Dataset final: ~49.000 libros  ·  15 variables</a:t>
            </a:r>
            <a:endParaRPr lang="es-ES_tradnl" sz="1400" noProof="1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2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Distribución de ratings</a:t>
            </a:r>
            <a:endParaRPr lang="es-ES_tradnl" sz="2200" noProof="1"/>
          </a:p>
        </p:txBody>
      </p:sp>
      <p:sp>
        <p:nvSpPr>
          <p:cNvPr id="5" name="Shape 3"/>
          <p:cNvSpPr/>
          <p:nvPr/>
        </p:nvSpPr>
        <p:spPr>
          <a:xfrm>
            <a:off x="502920" y="1051560"/>
            <a:ext cx="5669280" cy="3474720"/>
          </a:xfrm>
          <a:prstGeom prst="rect">
            <a:avLst/>
          </a:prstGeom>
          <a:solidFill>
            <a:srgbClr val="F5E6CC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pic>
        <p:nvPicPr>
          <p:cNvPr id="100" name="hist_rating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5669280" cy="347472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solidFill>
            <a:srgbClr val="8B4513"/>
          </a:solidFill>
          <a:ln w="12700">
            <a:solidFill>
              <a:srgbClr val="8B451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6400800" y="1051560"/>
            <a:ext cx="246888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3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Hallazgos clave</a:t>
            </a:r>
            <a:endParaRPr lang="es-ES_tradnl" sz="1300" noProof="1"/>
          </a:p>
        </p:txBody>
      </p:sp>
      <p:sp>
        <p:nvSpPr>
          <p:cNvPr id="9" name="Shape 7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6400800" y="1600200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Media: ~4.02 ⭐</a:t>
            </a:r>
            <a:endParaRPr lang="es-ES_tradnl" sz="1200" noProof="1"/>
          </a:p>
        </p:txBody>
      </p:sp>
      <p:sp>
        <p:nvSpPr>
          <p:cNvPr id="11" name="Shape 9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6400800" y="2313432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mayoría entre 3.5 - 4.5</a:t>
            </a:r>
            <a:endParaRPr lang="es-ES_tradnl" sz="1200" noProof="1"/>
          </a:p>
        </p:txBody>
      </p:sp>
      <p:sp>
        <p:nvSpPr>
          <p:cNvPr id="13" name="Shape 11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4" name="Text 12"/>
          <p:cNvSpPr/>
          <p:nvPr/>
        </p:nvSpPr>
        <p:spPr>
          <a:xfrm>
            <a:off x="6400800" y="3026664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Muy pocos &lt; 3.0</a:t>
            </a:r>
            <a:endParaRPr lang="es-ES_tradnl" sz="1200" noProof="1"/>
          </a:p>
        </p:txBody>
      </p:sp>
      <p:sp>
        <p:nvSpPr>
          <p:cNvPr id="15" name="Shape 13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4A7C59"/>
            </a:solidFill>
            <a:prstDash val="solid"/>
          </a:ln>
          <a:effectLst>
            <a:outerShdw blurRad="101600" dist="38100" dir="8100000" algn="bl" rotWithShape="0">
              <a:srgbClr val="000000">
                <a:alpha val="12000"/>
              </a:srgbClr>
            </a:outerShdw>
          </a:effectLst>
        </p:spPr>
        <p:txBody>
          <a:bodyPr/>
          <a:lstStyle/>
          <a:p>
            <a:endParaRPr lang="es-ES_tradnl" noProof="1"/>
          </a:p>
        </p:txBody>
      </p:sp>
      <p:sp>
        <p:nvSpPr>
          <p:cNvPr id="16" name="Text 14"/>
          <p:cNvSpPr/>
          <p:nvPr/>
        </p:nvSpPr>
        <p:spPr>
          <a:xfrm>
            <a:off x="6400800" y="3739896"/>
            <a:ext cx="2468880" cy="594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noProof="1">
                <a:solidFill>
                  <a:srgbClr val="1A0F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Distribución sesgada a la derecha</a:t>
            </a:r>
            <a:endParaRPr lang="es-ES_tradnl" sz="1200" noProof="1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 — ¿Los libros con más páginas tienen mejor rating?</a:t>
            </a:r>
            <a:endParaRPr lang="es-ES_tradnl" sz="2000" noProof="1"/>
          </a:p>
        </p:txBody>
      </p:sp>
      <p:pic>
        <p:nvPicPr>
          <p:cNvPr id="200" name="h1_pagina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H1 — PARCIALMENTE CONFIRMADA: Los libros más largos obtienen ligeramente mejor rating (3,97→4,26), aunque la diferencia es mínima. Sí se confirma que acumulan muchas más valoraciones.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 — ¿Los libros en formato Hardcover tienen mejor rating?</a:t>
            </a:r>
            <a:endParaRPr lang="es-ES_tradnl" sz="2000" noProof="1"/>
          </a:p>
        </p:txBody>
      </p:sp>
      <p:pic>
        <p:nvPicPr>
          <p:cNvPr id="300" name="h2_hardcover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8321040" cy="3108960"/>
          </a:xfrm>
          <a:prstGeom prst="rect">
            <a:avLst/>
          </a:prstGeom>
        </p:spPr>
      </p:pic>
      <p:sp>
        <p:nvSpPr>
          <p:cNvPr id="7" name="Shape 5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8" name="Text 6"/>
          <p:cNvSpPr/>
          <p:nvPr/>
        </p:nvSpPr>
        <p:spPr>
          <a:xfrm>
            <a:off x="502920" y="4297680"/>
            <a:ext cx="8321040" cy="7086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H2 — RECHAZADA: Hardcover tiene el rating más bajo (3,99) pese a ser el 2º formato más valorado (26.502 valoraciones/libro). Los formatos digitales lideran en rating: Kindle 4,12 · ebook 4,07. Posible sesgo de selección: solo los títulos más populares se publican en digital.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 — ¿Las series tienen mejores ratings que los libros individuales?</a:t>
            </a:r>
            <a:endParaRPr lang="es-ES_tradnl" sz="2000" noProof="1"/>
          </a:p>
        </p:txBody>
      </p:sp>
      <p:pic>
        <p:nvPicPr>
          <p:cNvPr id="400" name="h3_seri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sp>
        <p:nvSpPr>
          <p:cNvPr id="8" name="Text 6"/>
          <p:cNvSpPr/>
          <p:nvPr/>
        </p:nvSpPr>
        <p:spPr>
          <a:xfrm>
            <a:off x="4800600" y="1051560"/>
            <a:ext cx="3931920" cy="3108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endParaRPr lang="es-ES_tradnl" sz="1200" noProof="1"/>
          </a:p>
        </p:txBody>
      </p:sp>
      <p:sp>
        <p:nvSpPr>
          <p:cNvPr id="9" name="Shape 7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94360" y="429768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H3 — CONFIRMADA: Las series tienen rating medio 4,03 vs 3,95 de los standalone. Además, acumulan más valoraciones (~23.500 vs ~19.500), lo que sugiere fidelización del lector.</a:t>
            </a:r>
            <a:endParaRPr lang="es-ES_tradnl" sz="1200" noProof="1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41157A3F-A59F-92E2-405D-68FDB93D6F93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17720" y="1051560"/>
            <a:ext cx="4377923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DF6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914400"/>
          </a:xfrm>
          <a:prstGeom prst="rect">
            <a:avLst/>
          </a:prstGeom>
          <a:solidFill>
            <a:srgbClr val="2C1A0E"/>
          </a:solidFill>
          <a:ln w="12700">
            <a:solidFill>
              <a:srgbClr val="2C1A0E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4" name="Text 2"/>
          <p:cNvSpPr/>
          <p:nvPr/>
        </p:nvSpPr>
        <p:spPr>
          <a:xfrm>
            <a:off x="502920" y="137160"/>
            <a:ext cx="8412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s-ES_tradnl" sz="20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 &amp; H5 — Autores populares: valoraciones y premios</a:t>
            </a:r>
            <a:endParaRPr lang="es-ES_tradnl" sz="2000" noProof="1"/>
          </a:p>
        </p:txBody>
      </p:sp>
      <p:pic>
        <p:nvPicPr>
          <p:cNvPr id="500" name="h4_autores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051560"/>
            <a:ext cx="3931920" cy="3108960"/>
          </a:xfrm>
          <a:prstGeom prst="rect">
            <a:avLst/>
          </a:prstGeom>
        </p:spPr>
      </p:pic>
      <p:pic>
        <p:nvPicPr>
          <p:cNvPr id="501" name="h5_premios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00600" y="1051560"/>
            <a:ext cx="3931920" cy="3108960"/>
          </a:xfrm>
          <a:prstGeom prst="rect">
            <a:avLst/>
          </a:prstGeom>
        </p:spPr>
      </p:pic>
      <p:sp>
        <p:nvSpPr>
          <p:cNvPr id="9" name="Shape 7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solidFill>
            <a:srgbClr val="F5E6CC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0" name="Text 8"/>
          <p:cNvSpPr/>
          <p:nvPr/>
        </p:nvSpPr>
        <p:spPr>
          <a:xfrm>
            <a:off x="502920" y="4343400"/>
            <a:ext cx="83210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200" i="1" noProof="1">
                <a:solidFill>
                  <a:srgbClr val="8B45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H4 CONFIRMADA: J.K. Rowling acumula +24M valoraciones, muy por encima del resto. H5 CONFIRMADA: autores populares tienen 2,44 premios de media vs 0,47 de los no populares.</a:t>
            </a:r>
            <a:endParaRPr lang="es-ES_tradnl" sz="1200" noProof="1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548640" y="27432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3600" b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Conclusiones</a:t>
            </a:r>
            <a:endParaRPr lang="es-ES_tradnl" sz="3600" noProof="1"/>
          </a:p>
        </p:txBody>
      </p:sp>
      <p:sp>
        <p:nvSpPr>
          <p:cNvPr id="4" name="Shape 2"/>
          <p:cNvSpPr/>
          <p:nvPr/>
        </p:nvSpPr>
        <p:spPr>
          <a:xfrm>
            <a:off x="128016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Shape 3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6" name="Text 4"/>
          <p:cNvSpPr/>
          <p:nvPr/>
        </p:nvSpPr>
        <p:spPr>
          <a:xfrm>
            <a:off x="128016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H1</a:t>
            </a:r>
            <a:endParaRPr lang="es-ES_tradnl" sz="1400" noProof="1"/>
          </a:p>
        </p:txBody>
      </p:sp>
      <p:sp>
        <p:nvSpPr>
          <p:cNvPr id="7" name="Text 5"/>
          <p:cNvSpPr/>
          <p:nvPr/>
        </p:nvSpPr>
        <p:spPr>
          <a:xfrm>
            <a:off x="128016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Páginas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8" name="Shape 6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9" name="Text 7"/>
          <p:cNvSpPr/>
          <p:nvPr/>
        </p:nvSpPr>
        <p:spPr>
          <a:xfrm>
            <a:off x="137160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Tendencia leve, sin diferencia clara</a:t>
            </a:r>
            <a:endParaRPr lang="es-ES_tradnl" sz="1000" noProof="1"/>
          </a:p>
        </p:txBody>
      </p:sp>
      <p:sp>
        <p:nvSpPr>
          <p:cNvPr id="10" name="Shape 8"/>
          <p:cNvSpPr/>
          <p:nvPr/>
        </p:nvSpPr>
        <p:spPr>
          <a:xfrm>
            <a:off x="269748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1" name="Shape 9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2" name="Text 10"/>
          <p:cNvSpPr/>
          <p:nvPr/>
        </p:nvSpPr>
        <p:spPr>
          <a:xfrm>
            <a:off x="269748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H2</a:t>
            </a:r>
            <a:endParaRPr lang="es-ES_tradnl" sz="1400" noProof="1"/>
          </a:p>
        </p:txBody>
      </p:sp>
      <p:sp>
        <p:nvSpPr>
          <p:cNvPr id="13" name="Text 11"/>
          <p:cNvSpPr/>
          <p:nvPr/>
        </p:nvSpPr>
        <p:spPr>
          <a:xfrm>
            <a:off x="269748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Hardcover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14" name="Shape 12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5" name="Text 13"/>
          <p:cNvSpPr/>
          <p:nvPr/>
        </p:nvSpPr>
        <p:spPr>
          <a:xfrm>
            <a:off x="278892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Hardcover: rating más bajo (3,99)</a:t>
            </a:r>
            <a:endParaRPr lang="es-ES_tradnl" sz="1000" noProof="1"/>
          </a:p>
        </p:txBody>
      </p:sp>
      <p:sp>
        <p:nvSpPr>
          <p:cNvPr id="16" name="Shape 14"/>
          <p:cNvSpPr/>
          <p:nvPr/>
        </p:nvSpPr>
        <p:spPr>
          <a:xfrm>
            <a:off x="411480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7" name="Shape 15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18" name="Text 16"/>
          <p:cNvSpPr/>
          <p:nvPr/>
        </p:nvSpPr>
        <p:spPr>
          <a:xfrm>
            <a:off x="411480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H3</a:t>
            </a:r>
            <a:endParaRPr lang="es-ES_tradnl" sz="1400" noProof="1"/>
          </a:p>
        </p:txBody>
      </p:sp>
      <p:sp>
        <p:nvSpPr>
          <p:cNvPr id="19" name="Text 17"/>
          <p:cNvSpPr/>
          <p:nvPr/>
        </p:nvSpPr>
        <p:spPr>
          <a:xfrm>
            <a:off x="411480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0" name="Shape 18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1" name="Text 19"/>
          <p:cNvSpPr/>
          <p:nvPr/>
        </p:nvSpPr>
        <p:spPr>
          <a:xfrm>
            <a:off x="420624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Series: 4,03 vs 3,95 standalone</a:t>
            </a:r>
            <a:endParaRPr lang="es-ES_tradnl" sz="1000" noProof="1"/>
          </a:p>
        </p:txBody>
      </p:sp>
      <p:sp>
        <p:nvSpPr>
          <p:cNvPr id="22" name="Shape 20"/>
          <p:cNvSpPr/>
          <p:nvPr/>
        </p:nvSpPr>
        <p:spPr>
          <a:xfrm>
            <a:off x="553212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3" name="Shape 21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4" name="Text 22"/>
          <p:cNvSpPr/>
          <p:nvPr/>
        </p:nvSpPr>
        <p:spPr>
          <a:xfrm>
            <a:off x="553212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H4</a:t>
            </a:r>
            <a:endParaRPr lang="es-ES_tradnl" sz="1400" noProof="1"/>
          </a:p>
        </p:txBody>
      </p:sp>
      <p:sp>
        <p:nvSpPr>
          <p:cNvPr id="25" name="Text 23"/>
          <p:cNvSpPr/>
          <p:nvPr/>
        </p:nvSpPr>
        <p:spPr>
          <a:xfrm>
            <a:off x="553212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Valoraciones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Rating</a:t>
            </a:r>
            <a:endParaRPr lang="es-ES_tradnl" sz="1000" noProof="1"/>
          </a:p>
        </p:txBody>
      </p:sp>
      <p:sp>
        <p:nvSpPr>
          <p:cNvPr id="26" name="Shape 24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7" name="Text 25"/>
          <p:cNvSpPr/>
          <p:nvPr/>
        </p:nvSpPr>
        <p:spPr>
          <a:xfrm>
            <a:off x="562356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J.K. Rowling lidera con 24M+ valoraciones</a:t>
            </a:r>
            <a:endParaRPr lang="es-ES_tradnl" sz="1000" noProof="1"/>
          </a:p>
        </p:txBody>
      </p:sp>
      <p:sp>
        <p:nvSpPr>
          <p:cNvPr id="28" name="Shape 26"/>
          <p:cNvSpPr/>
          <p:nvPr/>
        </p:nvSpPr>
        <p:spPr>
          <a:xfrm>
            <a:off x="6949440" y="1143000"/>
            <a:ext cx="1234440" cy="2560320"/>
          </a:xfrm>
          <a:prstGeom prst="rect">
            <a:avLst/>
          </a:prstGeom>
          <a:solidFill>
            <a:srgbClr val="2A1505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29" name="Shape 27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0" name="Text 28"/>
          <p:cNvSpPr/>
          <p:nvPr/>
        </p:nvSpPr>
        <p:spPr>
          <a:xfrm>
            <a:off x="6949440" y="1143000"/>
            <a:ext cx="12344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400" b="1" noProof="1">
                <a:solidFill>
                  <a:srgbClr val="2C1A0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H5</a:t>
            </a:r>
            <a:endParaRPr lang="es-ES_tradnl" sz="1400" noProof="1"/>
          </a:p>
        </p:txBody>
      </p:sp>
      <p:sp>
        <p:nvSpPr>
          <p:cNvPr id="31" name="Text 29"/>
          <p:cNvSpPr/>
          <p:nvPr/>
        </p:nvSpPr>
        <p:spPr>
          <a:xfrm>
            <a:off x="6949440" y="1645920"/>
            <a:ext cx="12344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Autores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noProof="1">
                <a:solidFill>
                  <a:srgbClr val="FDF6E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premios</a:t>
            </a:r>
            <a:endParaRPr lang="es-ES_tradnl" sz="1000" noProof="1"/>
          </a:p>
        </p:txBody>
      </p:sp>
      <p:sp>
        <p:nvSpPr>
          <p:cNvPr id="32" name="Shape 30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solidFill>
            <a:srgbClr val="D4A853"/>
          </a:solidFill>
          <a:ln w="12700">
            <a:solidFill>
              <a:srgbClr val="D4A853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3" name="Text 31"/>
          <p:cNvSpPr/>
          <p:nvPr/>
        </p:nvSpPr>
        <p:spPr>
          <a:xfrm>
            <a:off x="7040880" y="2514600"/>
            <a:ext cx="1051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s-ES_tradnl" sz="1000" noProof="1"/>
          </a:p>
          <a:p>
            <a:pPr marL="0" indent="0" algn="ctr">
              <a:buNone/>
            </a:pPr>
            <a:r>
              <a:rPr lang="es-ES_tradnl" sz="1000" i="1" noProof="1">
                <a:solidFill>
                  <a:srgbClr val="2C1A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Pop.: 2,44 premios vs 0,47</a:t>
            </a:r>
            <a:endParaRPr lang="es-ES_tradnl" sz="1000" noProof="1"/>
          </a:p>
        </p:txBody>
      </p:sp>
      <p:sp>
        <p:nvSpPr>
          <p:cNvPr id="40" name="Text 38"/>
          <p:cNvSpPr/>
          <p:nvPr/>
        </p:nvSpPr>
        <p:spPr>
          <a:xfrm>
            <a:off x="548640" y="42976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200" i="1" noProof="1">
                <a:solidFill>
                  <a:schemeClr val="accent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Próximos pasos: Análisis de géneros · Correlación bbeScore · Modelo predictivo de rating</a:t>
            </a:r>
            <a:endParaRPr lang="es-ES_tradnl" sz="1200" noProof="1">
              <a:solidFill>
                <a:schemeClr val="accent2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2C1A0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0040" cy="5143500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3" name="Text 1"/>
          <p:cNvSpPr/>
          <p:nvPr/>
        </p:nvSpPr>
        <p:spPr>
          <a:xfrm>
            <a:off x="640080" y="1097280"/>
            <a:ext cx="8229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6400" b="1" noProof="1">
                <a:solidFill>
                  <a:srgbClr val="FDF6E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Gracias</a:t>
            </a:r>
            <a:endParaRPr lang="es-ES_tradnl" sz="6400" noProof="1"/>
          </a:p>
        </p:txBody>
      </p:sp>
      <p:sp>
        <p:nvSpPr>
          <p:cNvPr id="4" name="Shape 2"/>
          <p:cNvSpPr/>
          <p:nvPr/>
        </p:nvSpPr>
        <p:spPr>
          <a:xfrm>
            <a:off x="640080" y="2560320"/>
            <a:ext cx="4572000" cy="54864"/>
          </a:xfrm>
          <a:prstGeom prst="rect">
            <a:avLst/>
          </a:prstGeom>
          <a:solidFill>
            <a:srgbClr val="C8860A"/>
          </a:solidFill>
          <a:ln w="12700">
            <a:solidFill>
              <a:srgbClr val="C8860A"/>
            </a:solidFill>
            <a:prstDash val="solid"/>
          </a:ln>
        </p:spPr>
        <p:txBody>
          <a:bodyPr/>
          <a:lstStyle/>
          <a:p>
            <a:endParaRPr lang="es-ES_tradnl" noProof="1"/>
          </a:p>
        </p:txBody>
      </p:sp>
      <p:sp>
        <p:nvSpPr>
          <p:cNvPr id="5" name="Text 3"/>
          <p:cNvSpPr/>
          <p:nvPr/>
        </p:nvSpPr>
        <p:spPr>
          <a:xfrm>
            <a:off x="640080" y="2743200"/>
            <a:ext cx="8229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Dataset: Goodreads Best Books Ever  ·  Kaggle</a:t>
            </a:r>
            <a:endParaRPr lang="es-ES_tradnl" sz="1300" noProof="1"/>
          </a:p>
          <a:p>
            <a:pPr marL="0" indent="0" algn="l">
              <a:buNone/>
            </a:pPr>
            <a:r>
              <a:rPr lang="es-ES_tradnl" sz="1300" noProof="1">
                <a:solidFill>
                  <a:srgbClr val="7A5C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Herramientas: Python · pandas · matplotlib · seaborn</a:t>
            </a:r>
            <a:endParaRPr lang="es-ES_tradnl" sz="1300" noProof="1"/>
          </a:p>
        </p:txBody>
      </p:sp>
      <p:sp>
        <p:nvSpPr>
          <p:cNvPr id="6" name="Text 4"/>
          <p:cNvSpPr/>
          <p:nvPr/>
        </p:nvSpPr>
        <p:spPr>
          <a:xfrm>
            <a:off x="640080" y="384048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 algn="l">
              <a:buNone/>
            </a:pPr>
            <a:r>
              <a:rPr lang="es-ES_tradnl" sz="2400" i="1" noProof="1">
                <a:solidFill>
                  <a:srgbClr val="C8860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¿Preguntas?</a:t>
            </a:r>
            <a:endParaRPr lang="es-ES_tradnl" sz="2400" noProof="1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52</TotalTime>
  <Words>727</Words>
  <Application>Microsoft Macintosh PowerPoint</Application>
  <PresentationFormat>Presentación en pantalla (16:9)</PresentationFormat>
  <Paragraphs>108</Paragraphs>
  <Slides>12</Slides>
  <Notes>10</Notes>
  <HiddenSlides>0</HiddenSlides>
  <MMClips>0</MMClips>
  <ScaleCrop>false</ScaleCrop>
  <HeadingPairs>
    <vt:vector size="6" baseType="variant">
      <vt:variant>
        <vt:lpstr>Fuentes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12</vt:i4>
      </vt:variant>
    </vt:vector>
  </HeadingPairs>
  <TitlesOfParts>
    <vt:vector size="16" baseType="lpstr">
      <vt:lpstr>Arial</vt:lpstr>
      <vt:lpstr>Calibri</vt:lpstr>
      <vt:lpstr>Georgia</vt:lpstr>
      <vt:lpstr>Office Theme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  <vt:lpstr>Presentación de PowerPoint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EDA Goodreads - Análisis de Libros</dc:title>
  <dc:subject>PptxGenJS Presentation</dc:subject>
  <dc:creator>PptxGenJS</dc:creator>
  <cp:lastModifiedBy>Fátima Goiri</cp:lastModifiedBy>
  <cp:revision>12</cp:revision>
  <dcterms:created xsi:type="dcterms:W3CDTF">2026-04-12T11:05:01Z</dcterms:created>
  <dcterms:modified xsi:type="dcterms:W3CDTF">2026-04-14T19:32:34Z</dcterms:modified>
</cp:coreProperties>
</file>