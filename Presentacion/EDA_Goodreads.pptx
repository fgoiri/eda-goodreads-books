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68" r:id="rId3"/>
    <p:sldId id="269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8860A"/>
    <a:srgbClr val="E5B68F"/>
    <a:srgbClr val="FDF7EC"/>
    <a:srgbClr val="C8870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879"/>
    <p:restoredTop sz="94610"/>
  </p:normalViewPr>
  <p:slideViewPr>
    <p:cSldViewPr snapToGrid="0" snapToObjects="1">
      <p:cViewPr varScale="1">
        <p:scale>
          <a:sx n="148" d="100"/>
          <a:sy n="148" d="100"/>
        </p:scale>
        <p:origin x="464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5658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1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772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4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Análisis Exploratorio</a:t>
            </a:r>
            <a:endParaRPr lang="es-ES_tradnl" sz="4400" noProof="1"/>
          </a:p>
          <a:p>
            <a:pPr marL="0" indent="0" algn="l">
              <a:buNone/>
            </a:pPr>
            <a:r>
              <a:rPr lang="es-ES_tradnl" sz="4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Datos</a:t>
            </a:r>
            <a:endParaRPr lang="es-ES_tradnl" sz="4400" noProof="1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1800" noProof="1">
                <a:solidFill>
                  <a:srgbClr val="C88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Dataset: Goodreads </a:t>
            </a:r>
            <a:r>
              <a:rPr lang="es-ES_tradnl" sz="1800" noProof="1">
                <a:solidFill>
                  <a:srgbClr val="C88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</a:t>
            </a:r>
            <a:r>
              <a:rPr lang="es-ES_tradnl" sz="1800" noProof="1">
                <a:solidFill>
                  <a:srgbClr val="C88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Books (52k libros)</a:t>
            </a:r>
            <a:endParaRPr lang="es-ES_tradnl" sz="1800" noProof="1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5486400" cy="36576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6" name="Text 4"/>
          <p:cNvSpPr/>
          <p:nvPr/>
        </p:nvSpPr>
        <p:spPr>
          <a:xfrm>
            <a:off x="64008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_tradnl" sz="1200" noProof="1">
                <a:solidFill>
                  <a:srgbClr val="C88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| Bootcamp Data Science • Fátima Goiri •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¿Qué es Goodreads?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1628588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Goodreads es una red social orientada a la lectura fundada en 2007 y adquirida por Amazon en 2013. Con más de 150 millones de usuarios, es la mayor plataforma de referencia para lectores y escritores del mundo.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descubrir libros, valorarlos, escribir reseñas y organizar listas personales. Sus rankings y </a:t>
            </a:r>
            <a:r>
              <a:rPr lang="en-US" sz="1400" dirty="0" err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listas</a:t>
            </a:r>
            <a:r>
              <a:rPr lang="en-US" sz="14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recogen</a:t>
            </a:r>
            <a:r>
              <a:rPr lang="en-US" sz="14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los libros mejor valorados por la comunidad.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2817308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502920" y="2908748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150M+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02920" y="354882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registrados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651760" y="2817308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2651760" y="2908748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3.000M+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651760" y="354882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Valoraciones totales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00600" y="2817308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4800600" y="2908748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52.478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800600" y="354882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Libros en Best Books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949440" y="2817308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6949440" y="2908748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2007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949440" y="354882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 de fundación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25780" y="4326068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Funcionalidades: catálogo de libros · valoraciones y reseñas · listas personales · rankings · comunidad social · seguimiento de lectura</a:t>
            </a:r>
            <a:endParaRPr lang="en-US" sz="1100" dirty="0"/>
          </a:p>
        </p:txBody>
      </p:sp>
      <p:pic>
        <p:nvPicPr>
          <p:cNvPr id="19" name="Imagen 18">
            <a:extLst>
              <a:ext uri="{FF2B5EF4-FFF2-40B4-BE49-F238E27FC236}">
                <a16:creationId xmlns:a16="http://schemas.microsoft.com/office/drawing/2014/main" id="{AF0C3784-8EAD-FD36-EC38-B033E6C5D6C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/>
          <a:stretch/>
        </p:blipFill>
        <p:spPr>
          <a:xfrm>
            <a:off x="3501390" y="981667"/>
            <a:ext cx="2415539" cy="601201"/>
          </a:xfrm>
          <a:prstGeom prst="rect">
            <a:avLst/>
          </a:prstGeom>
          <a:noFill/>
          <a:effectLst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¿Qué es Kaggle? El dataset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118872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dataset utilizado es "Comprehensive Overview of 52.478 GoodReads Best Books". Recoge los mejores libros de Goodreads con ratings, géneros, premios, páginas y más.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548640" y="2400300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548640" y="249174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52.478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48640" y="31318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Libros originales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697480" y="2400300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2697480" y="249174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~49.000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697480" y="31318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 limpieza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46320" y="2400300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4846320" y="249174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846320" y="31318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 originales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995160" y="2400300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6995160" y="249174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10/10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995160" y="31318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Usabilidad Kaggle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397764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principales: title · author · rating · numRatings · genres · pages · bookFormat · awards · language · likedPercent · bbeScore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2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Hipótesis planteadas</a:t>
            </a:r>
            <a:endParaRPr lang="es-ES_tradnl" sz="2200" noProof="1"/>
          </a:p>
        </p:txBody>
      </p:sp>
      <p:sp>
        <p:nvSpPr>
          <p:cNvPr id="5" name="Shape 3"/>
          <p:cNvSpPr/>
          <p:nvPr/>
        </p:nvSpPr>
        <p:spPr>
          <a:xfrm>
            <a:off x="502920" y="128016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</a:t>
            </a:r>
            <a:endParaRPr lang="es-ES_tradnl" sz="1400" noProof="1"/>
          </a:p>
        </p:txBody>
      </p:sp>
      <p:sp>
        <p:nvSpPr>
          <p:cNvPr id="8" name="Text 6"/>
          <p:cNvSpPr/>
          <p:nvPr/>
        </p:nvSpPr>
        <p:spPr>
          <a:xfrm>
            <a:off x="1097280" y="128016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libros con más páginas tienen mejor rating</a:t>
            </a:r>
            <a:endParaRPr lang="es-ES_tradnl" sz="1400" noProof="1"/>
          </a:p>
        </p:txBody>
      </p:sp>
      <p:sp>
        <p:nvSpPr>
          <p:cNvPr id="9" name="Shape 7"/>
          <p:cNvSpPr/>
          <p:nvPr/>
        </p:nvSpPr>
        <p:spPr>
          <a:xfrm>
            <a:off x="4800600" y="128016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0" name="Shape 8"/>
          <p:cNvSpPr/>
          <p:nvPr/>
        </p:nvSpPr>
        <p:spPr>
          <a:xfrm>
            <a:off x="4800600" y="128016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1" name="Text 9"/>
          <p:cNvSpPr/>
          <p:nvPr/>
        </p:nvSpPr>
        <p:spPr>
          <a:xfrm>
            <a:off x="4800600" y="128016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</a:t>
            </a:r>
            <a:endParaRPr lang="es-ES_tradnl" sz="1400" noProof="1"/>
          </a:p>
        </p:txBody>
      </p:sp>
      <p:sp>
        <p:nvSpPr>
          <p:cNvPr id="12" name="Text 10"/>
          <p:cNvSpPr/>
          <p:nvPr/>
        </p:nvSpPr>
        <p:spPr>
          <a:xfrm>
            <a:off x="5394960" y="128016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libros en formato Hardcover tienen mejor rating</a:t>
            </a:r>
            <a:endParaRPr lang="es-ES_tradnl" sz="1400" noProof="1"/>
          </a:p>
        </p:txBody>
      </p:sp>
      <p:sp>
        <p:nvSpPr>
          <p:cNvPr id="13" name="Shape 11"/>
          <p:cNvSpPr/>
          <p:nvPr/>
        </p:nvSpPr>
        <p:spPr>
          <a:xfrm>
            <a:off x="502920" y="246888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4" name="Shape 12"/>
          <p:cNvSpPr/>
          <p:nvPr/>
        </p:nvSpPr>
        <p:spPr>
          <a:xfrm>
            <a:off x="502920" y="246888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5" name="Text 13"/>
          <p:cNvSpPr/>
          <p:nvPr/>
        </p:nvSpPr>
        <p:spPr>
          <a:xfrm>
            <a:off x="502920" y="246888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</a:t>
            </a:r>
            <a:endParaRPr lang="es-ES_tradnl" sz="1400" noProof="1"/>
          </a:p>
        </p:txBody>
      </p:sp>
      <p:sp>
        <p:nvSpPr>
          <p:cNvPr id="16" name="Text 14"/>
          <p:cNvSpPr/>
          <p:nvPr/>
        </p:nvSpPr>
        <p:spPr>
          <a:xfrm>
            <a:off x="1097280" y="246888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series tienen mejores ratings que los libros individuales</a:t>
            </a:r>
            <a:endParaRPr lang="es-ES_tradnl" sz="1400" noProof="1"/>
          </a:p>
        </p:txBody>
      </p:sp>
      <p:sp>
        <p:nvSpPr>
          <p:cNvPr id="17" name="Shape 15"/>
          <p:cNvSpPr/>
          <p:nvPr/>
        </p:nvSpPr>
        <p:spPr>
          <a:xfrm>
            <a:off x="4800600" y="246888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8" name="Shape 16"/>
          <p:cNvSpPr/>
          <p:nvPr/>
        </p:nvSpPr>
        <p:spPr>
          <a:xfrm>
            <a:off x="4800600" y="246888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9" name="Text 17"/>
          <p:cNvSpPr/>
          <p:nvPr/>
        </p:nvSpPr>
        <p:spPr>
          <a:xfrm>
            <a:off x="4800600" y="246888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</a:t>
            </a:r>
            <a:endParaRPr lang="es-ES_tradnl" sz="1400" noProof="1"/>
          </a:p>
        </p:txBody>
      </p:sp>
      <p:sp>
        <p:nvSpPr>
          <p:cNvPr id="20" name="Text 18"/>
          <p:cNvSpPr/>
          <p:nvPr/>
        </p:nvSpPr>
        <p:spPr>
          <a:xfrm>
            <a:off x="5394960" y="246888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autores populares concentran la mayoría de las valoraciones</a:t>
            </a:r>
            <a:endParaRPr lang="es-ES_tradnl" sz="1400" noProof="1"/>
          </a:p>
        </p:txBody>
      </p:sp>
      <p:sp>
        <p:nvSpPr>
          <p:cNvPr id="21" name="Shape 19"/>
          <p:cNvSpPr/>
          <p:nvPr/>
        </p:nvSpPr>
        <p:spPr>
          <a:xfrm>
            <a:off x="2766060" y="365760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22" name="Shape 20"/>
          <p:cNvSpPr/>
          <p:nvPr/>
        </p:nvSpPr>
        <p:spPr>
          <a:xfrm>
            <a:off x="2766060" y="365760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3" name="Text 21"/>
          <p:cNvSpPr/>
          <p:nvPr/>
        </p:nvSpPr>
        <p:spPr>
          <a:xfrm>
            <a:off x="2766060" y="365760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H5</a:t>
            </a:r>
            <a:endParaRPr lang="es-ES_tradnl" sz="1400" noProof="1"/>
          </a:p>
        </p:txBody>
      </p:sp>
      <p:sp>
        <p:nvSpPr>
          <p:cNvPr id="24" name="Text 22"/>
          <p:cNvSpPr/>
          <p:nvPr/>
        </p:nvSpPr>
        <p:spPr>
          <a:xfrm>
            <a:off x="3360420" y="365760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autores populares tienen más premios</a:t>
            </a:r>
            <a:endParaRPr lang="es-ES_tradnl" sz="1400" noProof="1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2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Proceso de limpieza de datos</a:t>
            </a:r>
            <a:endParaRPr lang="es-ES_tradnl" sz="2200" noProof="1"/>
          </a:p>
        </p:txBody>
      </p:sp>
      <p:sp>
        <p:nvSpPr>
          <p:cNvPr id="5" name="Shape 3"/>
          <p:cNvSpPr/>
          <p:nvPr/>
        </p:nvSpPr>
        <p:spPr>
          <a:xfrm>
            <a:off x="502920" y="1158729"/>
            <a:ext cx="3931920" cy="41148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6" name="Text 4"/>
          <p:cNvSpPr/>
          <p:nvPr/>
        </p:nvSpPr>
        <p:spPr>
          <a:xfrm>
            <a:off x="502920" y="1158729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Columnas eliminadas</a:t>
            </a:r>
            <a:endParaRPr lang="es-ES_tradnl" sz="1400" noProof="1"/>
          </a:p>
        </p:txBody>
      </p:sp>
      <p:sp>
        <p:nvSpPr>
          <p:cNvPr id="7" name="Text 5"/>
          <p:cNvSpPr/>
          <p:nvPr/>
        </p:nvSpPr>
        <p:spPr>
          <a:xfrm>
            <a:off x="594360" y="177622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isbn, bookId, coverImg</a:t>
            </a:r>
            <a:endParaRPr lang="es-ES_tradnl" sz="1400" noProof="1"/>
          </a:p>
        </p:txBody>
      </p:sp>
      <p:sp>
        <p:nvSpPr>
          <p:cNvPr id="8" name="Text 6"/>
          <p:cNvSpPr/>
          <p:nvPr/>
        </p:nvSpPr>
        <p:spPr>
          <a:xfrm>
            <a:off x="594360" y="2248473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series (reemplazada por is_series)</a:t>
            </a:r>
            <a:endParaRPr lang="es-ES_tradnl" sz="1400" noProof="1"/>
          </a:p>
        </p:txBody>
      </p:sp>
      <p:sp>
        <p:nvSpPr>
          <p:cNvPr id="9" name="Text 7"/>
          <p:cNvSpPr/>
          <p:nvPr/>
        </p:nvSpPr>
        <p:spPr>
          <a:xfrm>
            <a:off x="594360" y="272503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description, characters</a:t>
            </a:r>
            <a:endParaRPr lang="es-ES_tradnl" sz="1400" noProof="1"/>
          </a:p>
        </p:txBody>
      </p:sp>
      <p:sp>
        <p:nvSpPr>
          <p:cNvPr id="10" name="Text 8"/>
          <p:cNvSpPr/>
          <p:nvPr/>
        </p:nvSpPr>
        <p:spPr>
          <a:xfrm>
            <a:off x="594360" y="3201603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edition, firstPublishDate, price</a:t>
            </a:r>
            <a:endParaRPr lang="es-ES_tradnl" sz="1400" noProof="1"/>
          </a:p>
        </p:txBody>
      </p:sp>
      <p:sp>
        <p:nvSpPr>
          <p:cNvPr id="11" name="Text 9"/>
          <p:cNvSpPr/>
          <p:nvPr/>
        </p:nvSpPr>
        <p:spPr>
          <a:xfrm>
            <a:off x="594360" y="367816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Filas con rating = 0 o nulos en géneros</a:t>
            </a:r>
            <a:endParaRPr lang="es-ES_tradnl" sz="1400" noProof="1"/>
          </a:p>
        </p:txBody>
      </p:sp>
      <p:sp>
        <p:nvSpPr>
          <p:cNvPr id="12" name="Shape 10"/>
          <p:cNvSpPr/>
          <p:nvPr/>
        </p:nvSpPr>
        <p:spPr>
          <a:xfrm>
            <a:off x="4709160" y="1158729"/>
            <a:ext cx="3931920" cy="41148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3" name="Text 11"/>
          <p:cNvSpPr/>
          <p:nvPr/>
        </p:nvSpPr>
        <p:spPr>
          <a:xfrm>
            <a:off x="4709160" y="1158729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Transformaciones aplicadas</a:t>
            </a:r>
            <a:endParaRPr lang="es-ES_tradnl" sz="1400" noProof="1"/>
          </a:p>
        </p:txBody>
      </p:sp>
      <p:sp>
        <p:nvSpPr>
          <p:cNvPr id="14" name="Text 12"/>
          <p:cNvSpPr/>
          <p:nvPr/>
        </p:nvSpPr>
        <p:spPr>
          <a:xfrm>
            <a:off x="4800600" y="177622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Filtrado por bookFormat (5 formatos válidos)</a:t>
            </a:r>
            <a:endParaRPr lang="es-ES_tradnl" sz="1400" noProof="1"/>
          </a:p>
        </p:txBody>
      </p:sp>
      <p:sp>
        <p:nvSpPr>
          <p:cNvPr id="15" name="Text 13"/>
          <p:cNvSpPr/>
          <p:nvPr/>
        </p:nvSpPr>
        <p:spPr>
          <a:xfrm>
            <a:off x="4800600" y="2248473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Eliminación de box sets (#X-Y en series)</a:t>
            </a:r>
            <a:endParaRPr lang="es-ES_tradnl" sz="1400" noProof="1"/>
          </a:p>
        </p:txBody>
      </p:sp>
      <p:sp>
        <p:nvSpPr>
          <p:cNvPr id="16" name="Text 14"/>
          <p:cNvSpPr/>
          <p:nvPr/>
        </p:nvSpPr>
        <p:spPr>
          <a:xfrm>
            <a:off x="4800600" y="272503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Nueva variable is_series (True/False)</a:t>
            </a:r>
            <a:endParaRPr lang="es-ES_tradnl" sz="1400" noProof="1"/>
          </a:p>
        </p:txBody>
      </p:sp>
      <p:sp>
        <p:nvSpPr>
          <p:cNvPr id="17" name="Text 15"/>
          <p:cNvSpPr/>
          <p:nvPr/>
        </p:nvSpPr>
        <p:spPr>
          <a:xfrm>
            <a:off x="4800600" y="3201603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Limpieza de columna author → main_author</a:t>
            </a:r>
            <a:endParaRPr lang="es-ES_tradnl" sz="1400" noProof="1"/>
          </a:p>
        </p:txBody>
      </p:sp>
      <p:sp>
        <p:nvSpPr>
          <p:cNvPr id="18" name="Text 16"/>
          <p:cNvSpPr/>
          <p:nvPr/>
        </p:nvSpPr>
        <p:spPr>
          <a:xfrm>
            <a:off x="4800600" y="367816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Conversión de pages a numérico</a:t>
            </a:r>
          </a:p>
        </p:txBody>
      </p:sp>
      <p:sp>
        <p:nvSpPr>
          <p:cNvPr id="19" name="Shape 17"/>
          <p:cNvSpPr/>
          <p:nvPr/>
        </p:nvSpPr>
        <p:spPr>
          <a:xfrm>
            <a:off x="502920" y="4297680"/>
            <a:ext cx="8138160" cy="54864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0" name="Text 18"/>
          <p:cNvSpPr/>
          <p:nvPr/>
        </p:nvSpPr>
        <p:spPr>
          <a:xfrm>
            <a:off x="502920" y="429768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600" b="1" noProof="1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 final: ~49.000 libros  ·  15 variables</a:t>
            </a:r>
            <a:endParaRPr lang="es-ES_tradnl" sz="1600" noProof="1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2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Distribución de ratings</a:t>
            </a:r>
            <a:endParaRPr lang="es-ES_tradnl" sz="2200" noProof="1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5669280" cy="3474720"/>
          </a:xfrm>
          <a:prstGeom prst="rect">
            <a:avLst/>
          </a:prstGeom>
          <a:solidFill>
            <a:srgbClr val="F5E6CC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pic>
        <p:nvPicPr>
          <p:cNvPr id="100" name="hist_rating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5669280" cy="3474720"/>
          </a:xfrm>
          <a:prstGeom prst="rect">
            <a:avLst/>
          </a:prstGeom>
        </p:spPr>
      </p:pic>
      <p:sp>
        <p:nvSpPr>
          <p:cNvPr id="7" name="Shape 5"/>
          <p:cNvSpPr/>
          <p:nvPr/>
        </p:nvSpPr>
        <p:spPr>
          <a:xfrm>
            <a:off x="6400800" y="1051560"/>
            <a:ext cx="2468880" cy="45720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8" name="Text 6"/>
          <p:cNvSpPr/>
          <p:nvPr/>
        </p:nvSpPr>
        <p:spPr>
          <a:xfrm>
            <a:off x="6400800" y="1051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Hallazgos clave</a:t>
            </a:r>
            <a:endParaRPr lang="es-ES_tradnl" sz="1300" noProof="1"/>
          </a:p>
        </p:txBody>
      </p:sp>
      <p:sp>
        <p:nvSpPr>
          <p:cNvPr id="9" name="Shape 7"/>
          <p:cNvSpPr/>
          <p:nvPr/>
        </p:nvSpPr>
        <p:spPr>
          <a:xfrm>
            <a:off x="6400800" y="1600200"/>
            <a:ext cx="24688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0" name="Text 8"/>
          <p:cNvSpPr/>
          <p:nvPr/>
        </p:nvSpPr>
        <p:spPr>
          <a:xfrm>
            <a:off x="6400800" y="160020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Media: ~4.02 ⭐</a:t>
            </a:r>
            <a:endParaRPr lang="es-ES_tradnl" sz="1400" noProof="1"/>
          </a:p>
        </p:txBody>
      </p:sp>
      <p:sp>
        <p:nvSpPr>
          <p:cNvPr id="11" name="Shape 9"/>
          <p:cNvSpPr/>
          <p:nvPr/>
        </p:nvSpPr>
        <p:spPr>
          <a:xfrm>
            <a:off x="6400800" y="2313432"/>
            <a:ext cx="24688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sz="1600" noProof="1"/>
          </a:p>
        </p:txBody>
      </p:sp>
      <p:sp>
        <p:nvSpPr>
          <p:cNvPr id="12" name="Text 10"/>
          <p:cNvSpPr/>
          <p:nvPr/>
        </p:nvSpPr>
        <p:spPr>
          <a:xfrm>
            <a:off x="6400800" y="231343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mayoría entre 3.5 - 4.5</a:t>
            </a:r>
            <a:endParaRPr lang="es-ES_tradnl" sz="1400" noProof="1"/>
          </a:p>
        </p:txBody>
      </p:sp>
      <p:sp>
        <p:nvSpPr>
          <p:cNvPr id="13" name="Shape 11"/>
          <p:cNvSpPr/>
          <p:nvPr/>
        </p:nvSpPr>
        <p:spPr>
          <a:xfrm>
            <a:off x="6400800" y="3026664"/>
            <a:ext cx="24688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4" name="Text 12"/>
          <p:cNvSpPr/>
          <p:nvPr/>
        </p:nvSpPr>
        <p:spPr>
          <a:xfrm>
            <a:off x="6400800" y="3026664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Muy pocos &lt; 3.0</a:t>
            </a:r>
            <a:endParaRPr lang="es-ES_tradnl" sz="1400" noProof="1"/>
          </a:p>
        </p:txBody>
      </p:sp>
      <p:sp>
        <p:nvSpPr>
          <p:cNvPr id="15" name="Shape 13"/>
          <p:cNvSpPr/>
          <p:nvPr/>
        </p:nvSpPr>
        <p:spPr>
          <a:xfrm>
            <a:off x="6400800" y="3739896"/>
            <a:ext cx="24688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6" name="Text 14"/>
          <p:cNvSpPr/>
          <p:nvPr/>
        </p:nvSpPr>
        <p:spPr>
          <a:xfrm>
            <a:off x="6400800" y="3739896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sesgada a la derecha</a:t>
            </a:r>
            <a:endParaRPr lang="es-ES_tradnl" sz="1400" noProof="1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0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 — ¿Los libros con más páginas tienen mejor rating?</a:t>
            </a:r>
            <a:endParaRPr lang="es-ES_tradnl" sz="2000" noProof="1"/>
          </a:p>
        </p:txBody>
      </p:sp>
      <p:pic>
        <p:nvPicPr>
          <p:cNvPr id="200" name="h1_pagin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8321040" cy="3108960"/>
          </a:xfrm>
          <a:prstGeom prst="rect">
            <a:avLst/>
          </a:prstGeom>
        </p:spPr>
      </p:pic>
      <p:sp>
        <p:nvSpPr>
          <p:cNvPr id="7" name="Shape 5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8" name="Text 6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i="1" noProof="1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— PARCIALMENTE CONFIRMADA: Los libros más largos obtienen ligeramente mejor rating (3,97→4,26), aunque la diferencia es mínima. Sí se confirma que acumulan muchas más valoraciones.</a:t>
            </a:r>
            <a:endParaRPr lang="es-ES_tradnl" sz="1200" noProof="1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0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 — ¿Los libros en formato Hardcover tienen mejor rating?</a:t>
            </a:r>
            <a:endParaRPr lang="es-ES_tradnl" sz="2000" noProof="1"/>
          </a:p>
        </p:txBody>
      </p:sp>
      <p:pic>
        <p:nvPicPr>
          <p:cNvPr id="300" name="h2_hardcov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8321040" cy="3108960"/>
          </a:xfrm>
          <a:prstGeom prst="rect">
            <a:avLst/>
          </a:prstGeom>
        </p:spPr>
      </p:pic>
      <p:sp>
        <p:nvSpPr>
          <p:cNvPr id="7" name="Shape 5"/>
          <p:cNvSpPr/>
          <p:nvPr/>
        </p:nvSpPr>
        <p:spPr>
          <a:xfrm>
            <a:off x="502920" y="4297680"/>
            <a:ext cx="8321040" cy="70866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8" name="Text 6"/>
          <p:cNvSpPr/>
          <p:nvPr/>
        </p:nvSpPr>
        <p:spPr>
          <a:xfrm>
            <a:off x="502920" y="4297680"/>
            <a:ext cx="8321040" cy="7086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i="1" noProof="1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— RECHAZADA: Hardcover tiene el rating más bajo (3,99) pese a ser el 2º formato más valorado (26.502 valoraciones/libro). Los formatos digitales lideran en rating: Kindle 4,12 · ebook 4,07. Posible sesgo de selección: solo los títulos más populares se publican en digital.</a:t>
            </a:r>
            <a:endParaRPr lang="es-ES_tradnl" sz="1200" noProof="1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0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 — ¿Las series tienen mejores ratings que los libros individuales?</a:t>
            </a:r>
            <a:endParaRPr lang="es-ES_tradnl" sz="2000" noProof="1"/>
          </a:p>
        </p:txBody>
      </p:sp>
      <p:sp>
        <p:nvSpPr>
          <p:cNvPr id="8" name="Text 6"/>
          <p:cNvSpPr/>
          <p:nvPr/>
        </p:nvSpPr>
        <p:spPr>
          <a:xfrm>
            <a:off x="4800600" y="1051560"/>
            <a:ext cx="39319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s-ES_tradnl" sz="1200" noProof="1"/>
          </a:p>
        </p:txBody>
      </p:sp>
      <p:sp>
        <p:nvSpPr>
          <p:cNvPr id="9" name="Shape 7"/>
          <p:cNvSpPr/>
          <p:nvPr/>
        </p:nvSpPr>
        <p:spPr>
          <a:xfrm>
            <a:off x="594360" y="4297680"/>
            <a:ext cx="8321040" cy="50292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0" name="Text 8"/>
          <p:cNvSpPr/>
          <p:nvPr/>
        </p:nvSpPr>
        <p:spPr>
          <a:xfrm>
            <a:off x="594360" y="429768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300" i="1" noProof="1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— CONFIRMADA: Las series tienen rating medio 4,03 vs 3,95 de los standalone. Además, acumulan más valoraciones (~23.500 vs ~19.500), lo que sugiere fidelización del lector.</a:t>
            </a:r>
            <a:endParaRPr lang="es-ES_tradnl" sz="1300" noProof="1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0217015A-2B0E-51E2-7171-87DB59038A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1540" y="1173190"/>
            <a:ext cx="4206647" cy="2987329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E7BECBEF-6FF9-74BE-74CA-18857A899D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1173192"/>
            <a:ext cx="4206646" cy="29873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0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 &amp; H5 — Autores populares: valoraciones y premios</a:t>
            </a:r>
            <a:endParaRPr lang="es-ES_tradnl" sz="2000" noProof="1"/>
          </a:p>
        </p:txBody>
      </p:sp>
      <p:pic>
        <p:nvPicPr>
          <p:cNvPr id="500" name="h4_autor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3931920" cy="3108960"/>
          </a:xfrm>
          <a:prstGeom prst="rect">
            <a:avLst/>
          </a:prstGeom>
        </p:spPr>
      </p:pic>
      <p:pic>
        <p:nvPicPr>
          <p:cNvPr id="501" name="h5_premio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1051560"/>
            <a:ext cx="3931920" cy="3108960"/>
          </a:xfrm>
          <a:prstGeom prst="rect">
            <a:avLst/>
          </a:prstGeom>
        </p:spPr>
      </p:pic>
      <p:sp>
        <p:nvSpPr>
          <p:cNvPr id="9" name="Shape 7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0" name="Text 8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300" i="1" noProof="1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H4 CONFIRMADA: J.K. Rowling acumula +24M valoraciones, muy por encima del resto. H5 CONFIRMADA: autores populares tienen 2,44 premios de media vs 0,47 de los no populares.</a:t>
            </a:r>
            <a:endParaRPr lang="es-ES_tradnl" sz="1300" noProof="1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C1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3600" b="1" noProof="1">
                <a:solidFill>
                  <a:srgbClr val="C886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Conclusiones</a:t>
            </a:r>
            <a:endParaRPr lang="es-ES_tradnl" sz="3600" noProof="1"/>
          </a:p>
        </p:txBody>
      </p:sp>
      <p:sp>
        <p:nvSpPr>
          <p:cNvPr id="4" name="Shape 2"/>
          <p:cNvSpPr/>
          <p:nvPr/>
        </p:nvSpPr>
        <p:spPr>
          <a:xfrm>
            <a:off x="1193896" y="1371600"/>
            <a:ext cx="1234440" cy="2560320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" name="Shape 3"/>
          <p:cNvSpPr/>
          <p:nvPr/>
        </p:nvSpPr>
        <p:spPr>
          <a:xfrm>
            <a:off x="1193896" y="1371600"/>
            <a:ext cx="1234440" cy="4572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6" name="Text 4"/>
          <p:cNvSpPr/>
          <p:nvPr/>
        </p:nvSpPr>
        <p:spPr>
          <a:xfrm>
            <a:off x="1193896" y="137160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</a:t>
            </a:r>
            <a:endParaRPr lang="es-ES_tradnl" sz="1400" noProof="1"/>
          </a:p>
        </p:txBody>
      </p:sp>
      <p:sp>
        <p:nvSpPr>
          <p:cNvPr id="7" name="Text 5"/>
          <p:cNvSpPr/>
          <p:nvPr/>
        </p:nvSpPr>
        <p:spPr>
          <a:xfrm>
            <a:off x="1193896" y="187452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</a:t>
            </a:r>
            <a:endParaRPr lang="es-ES_tradnl" sz="1200" noProof="1"/>
          </a:p>
          <a:p>
            <a:pPr marL="0" indent="0" algn="ctr">
              <a:buNone/>
            </a:pPr>
            <a:r>
              <a:rPr lang="es-ES_tradnl" sz="12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Rating</a:t>
            </a:r>
            <a:endParaRPr lang="es-ES_tradnl" sz="1200" noProof="1"/>
          </a:p>
        </p:txBody>
      </p:sp>
      <p:sp>
        <p:nvSpPr>
          <p:cNvPr id="8" name="Shape 6"/>
          <p:cNvSpPr/>
          <p:nvPr/>
        </p:nvSpPr>
        <p:spPr>
          <a:xfrm>
            <a:off x="1285336" y="2743200"/>
            <a:ext cx="1051560" cy="640080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9" name="Text 7"/>
          <p:cNvSpPr/>
          <p:nvPr/>
        </p:nvSpPr>
        <p:spPr>
          <a:xfrm>
            <a:off x="1285336" y="2743200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s-ES_tradnl" sz="1000" noProof="1"/>
          </a:p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Tendencia leve, sin diferencia clara</a:t>
            </a:r>
            <a:endParaRPr lang="es-ES_tradnl" sz="1000" noProof="1"/>
          </a:p>
        </p:txBody>
      </p:sp>
      <p:sp>
        <p:nvSpPr>
          <p:cNvPr id="10" name="Shape 8"/>
          <p:cNvSpPr/>
          <p:nvPr/>
        </p:nvSpPr>
        <p:spPr>
          <a:xfrm>
            <a:off x="2611216" y="1371600"/>
            <a:ext cx="1234440" cy="2560320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1" name="Shape 9"/>
          <p:cNvSpPr/>
          <p:nvPr/>
        </p:nvSpPr>
        <p:spPr>
          <a:xfrm>
            <a:off x="2611216" y="1371600"/>
            <a:ext cx="1234440" cy="4572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2" name="Text 10"/>
          <p:cNvSpPr/>
          <p:nvPr/>
        </p:nvSpPr>
        <p:spPr>
          <a:xfrm>
            <a:off x="2611216" y="137160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</a:t>
            </a:r>
            <a:endParaRPr lang="es-ES_tradnl" sz="1400" noProof="1"/>
          </a:p>
        </p:txBody>
      </p:sp>
      <p:sp>
        <p:nvSpPr>
          <p:cNvPr id="13" name="Text 11"/>
          <p:cNvSpPr/>
          <p:nvPr/>
        </p:nvSpPr>
        <p:spPr>
          <a:xfrm>
            <a:off x="2611216" y="187452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Hardcover</a:t>
            </a:r>
            <a:endParaRPr lang="es-ES_tradnl" sz="1200" noProof="1"/>
          </a:p>
          <a:p>
            <a:pPr marL="0" indent="0" algn="ctr">
              <a:buNone/>
            </a:pPr>
            <a:r>
              <a:rPr lang="es-ES_tradnl" sz="12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Rating</a:t>
            </a:r>
            <a:endParaRPr lang="es-ES_tradnl" sz="1200" noProof="1"/>
          </a:p>
        </p:txBody>
      </p:sp>
      <p:sp>
        <p:nvSpPr>
          <p:cNvPr id="14" name="Shape 12"/>
          <p:cNvSpPr/>
          <p:nvPr/>
        </p:nvSpPr>
        <p:spPr>
          <a:xfrm>
            <a:off x="2702656" y="2743200"/>
            <a:ext cx="1051560" cy="640080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5" name="Text 13"/>
          <p:cNvSpPr/>
          <p:nvPr/>
        </p:nvSpPr>
        <p:spPr>
          <a:xfrm>
            <a:off x="2702656" y="2743200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s-ES_tradnl" sz="1000" noProof="1"/>
          </a:p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Hardcover: rating más bajo (3,99)</a:t>
            </a:r>
            <a:endParaRPr lang="es-ES_tradnl" sz="1000" noProof="1"/>
          </a:p>
        </p:txBody>
      </p:sp>
      <p:sp>
        <p:nvSpPr>
          <p:cNvPr id="16" name="Shape 14"/>
          <p:cNvSpPr/>
          <p:nvPr/>
        </p:nvSpPr>
        <p:spPr>
          <a:xfrm>
            <a:off x="4028536" y="1371600"/>
            <a:ext cx="1234440" cy="2560320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7" name="Shape 15"/>
          <p:cNvSpPr/>
          <p:nvPr/>
        </p:nvSpPr>
        <p:spPr>
          <a:xfrm>
            <a:off x="4028536" y="1371600"/>
            <a:ext cx="1234440" cy="4572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8" name="Text 16"/>
          <p:cNvSpPr/>
          <p:nvPr/>
        </p:nvSpPr>
        <p:spPr>
          <a:xfrm>
            <a:off x="4028536" y="137160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</a:t>
            </a:r>
            <a:endParaRPr lang="es-ES_tradnl" sz="1400" noProof="1"/>
          </a:p>
        </p:txBody>
      </p:sp>
      <p:sp>
        <p:nvSpPr>
          <p:cNvPr id="19" name="Text 17"/>
          <p:cNvSpPr/>
          <p:nvPr/>
        </p:nvSpPr>
        <p:spPr>
          <a:xfrm>
            <a:off x="4028536" y="187452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</a:t>
            </a:r>
            <a:endParaRPr lang="es-ES_tradnl" sz="1200" noProof="1"/>
          </a:p>
          <a:p>
            <a:pPr marL="0" indent="0" algn="ctr">
              <a:buNone/>
            </a:pPr>
            <a:r>
              <a:rPr lang="es-ES_tradnl" sz="12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Rating</a:t>
            </a:r>
            <a:endParaRPr lang="es-ES_tradnl" sz="1200" noProof="1"/>
          </a:p>
        </p:txBody>
      </p:sp>
      <p:sp>
        <p:nvSpPr>
          <p:cNvPr id="20" name="Shape 18"/>
          <p:cNvSpPr/>
          <p:nvPr/>
        </p:nvSpPr>
        <p:spPr>
          <a:xfrm>
            <a:off x="4119976" y="2743200"/>
            <a:ext cx="1051560" cy="640080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1" name="Text 19"/>
          <p:cNvSpPr/>
          <p:nvPr/>
        </p:nvSpPr>
        <p:spPr>
          <a:xfrm>
            <a:off x="4119976" y="2743200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s-ES_tradnl" sz="1000" noProof="1"/>
          </a:p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Series: 4,03 vs 3,95 standalone</a:t>
            </a:r>
            <a:endParaRPr lang="es-ES_tradnl" sz="1000" noProof="1"/>
          </a:p>
        </p:txBody>
      </p:sp>
      <p:sp>
        <p:nvSpPr>
          <p:cNvPr id="22" name="Shape 20"/>
          <p:cNvSpPr/>
          <p:nvPr/>
        </p:nvSpPr>
        <p:spPr>
          <a:xfrm>
            <a:off x="5445856" y="1371600"/>
            <a:ext cx="1234440" cy="2560320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3" name="Shape 21"/>
          <p:cNvSpPr/>
          <p:nvPr/>
        </p:nvSpPr>
        <p:spPr>
          <a:xfrm>
            <a:off x="5445856" y="1371600"/>
            <a:ext cx="1234440" cy="4572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4" name="Text 22"/>
          <p:cNvSpPr/>
          <p:nvPr/>
        </p:nvSpPr>
        <p:spPr>
          <a:xfrm>
            <a:off x="5445856" y="137160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</a:t>
            </a:r>
            <a:endParaRPr lang="es-ES_tradnl" sz="1400" noProof="1"/>
          </a:p>
        </p:txBody>
      </p:sp>
      <p:sp>
        <p:nvSpPr>
          <p:cNvPr id="25" name="Text 23"/>
          <p:cNvSpPr/>
          <p:nvPr/>
        </p:nvSpPr>
        <p:spPr>
          <a:xfrm>
            <a:off x="5445856" y="187452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Valoraciones</a:t>
            </a:r>
            <a:endParaRPr lang="es-ES_tradnl" sz="1200" noProof="1"/>
          </a:p>
          <a:p>
            <a:pPr marL="0" indent="0" algn="ctr">
              <a:buNone/>
            </a:pPr>
            <a:r>
              <a:rPr lang="es-ES_tradnl" sz="12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Rating</a:t>
            </a:r>
            <a:endParaRPr lang="es-ES_tradnl" sz="1200" noProof="1"/>
          </a:p>
        </p:txBody>
      </p:sp>
      <p:sp>
        <p:nvSpPr>
          <p:cNvPr id="26" name="Shape 24"/>
          <p:cNvSpPr/>
          <p:nvPr/>
        </p:nvSpPr>
        <p:spPr>
          <a:xfrm>
            <a:off x="5537296" y="2743200"/>
            <a:ext cx="1051560" cy="640080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7" name="Text 25"/>
          <p:cNvSpPr/>
          <p:nvPr/>
        </p:nvSpPr>
        <p:spPr>
          <a:xfrm>
            <a:off x="5537296" y="2743200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s-ES_tradnl" sz="1000" noProof="1"/>
          </a:p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J.K. Rowling lidera con 24M+ valoraciones</a:t>
            </a:r>
            <a:endParaRPr lang="es-ES_tradnl" sz="1000" noProof="1"/>
          </a:p>
        </p:txBody>
      </p:sp>
      <p:sp>
        <p:nvSpPr>
          <p:cNvPr id="28" name="Shape 26"/>
          <p:cNvSpPr/>
          <p:nvPr/>
        </p:nvSpPr>
        <p:spPr>
          <a:xfrm>
            <a:off x="6863176" y="1371600"/>
            <a:ext cx="1234440" cy="2560320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9" name="Shape 27"/>
          <p:cNvSpPr/>
          <p:nvPr/>
        </p:nvSpPr>
        <p:spPr>
          <a:xfrm>
            <a:off x="6863176" y="1371600"/>
            <a:ext cx="1234440" cy="4572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0" name="Text 28"/>
          <p:cNvSpPr/>
          <p:nvPr/>
        </p:nvSpPr>
        <p:spPr>
          <a:xfrm>
            <a:off x="6863176" y="137160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H5</a:t>
            </a:r>
            <a:endParaRPr lang="es-ES_tradnl" sz="1400" noProof="1"/>
          </a:p>
        </p:txBody>
      </p:sp>
      <p:sp>
        <p:nvSpPr>
          <p:cNvPr id="31" name="Text 29"/>
          <p:cNvSpPr/>
          <p:nvPr/>
        </p:nvSpPr>
        <p:spPr>
          <a:xfrm>
            <a:off x="6863176" y="187452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Autores</a:t>
            </a:r>
            <a:endParaRPr lang="es-ES_tradnl" sz="1200" noProof="1"/>
          </a:p>
          <a:p>
            <a:pPr marL="0" indent="0" algn="ctr">
              <a:buNone/>
            </a:pPr>
            <a:r>
              <a:rPr lang="es-ES_tradnl" sz="12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premios</a:t>
            </a:r>
            <a:endParaRPr lang="es-ES_tradnl" sz="1200" noProof="1"/>
          </a:p>
        </p:txBody>
      </p:sp>
      <p:sp>
        <p:nvSpPr>
          <p:cNvPr id="32" name="Shape 30"/>
          <p:cNvSpPr/>
          <p:nvPr/>
        </p:nvSpPr>
        <p:spPr>
          <a:xfrm>
            <a:off x="6954616" y="2743200"/>
            <a:ext cx="1051560" cy="640080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3" name="Text 31"/>
          <p:cNvSpPr/>
          <p:nvPr/>
        </p:nvSpPr>
        <p:spPr>
          <a:xfrm>
            <a:off x="6954616" y="2743200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s-ES_tradnl" sz="1000" noProof="1"/>
          </a:p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Pop.: 2,44 premios vs 0,47</a:t>
            </a:r>
            <a:endParaRPr lang="es-ES_tradnl" sz="1000" noProof="1"/>
          </a:p>
        </p:txBody>
      </p:sp>
      <p:sp>
        <p:nvSpPr>
          <p:cNvPr id="40" name="Text 38"/>
          <p:cNvSpPr/>
          <p:nvPr/>
        </p:nvSpPr>
        <p:spPr>
          <a:xfrm>
            <a:off x="548640" y="4297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i="1" noProof="1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pasos: Análisis de géneros · Correlación bbeScore · Modelo predictivo de rating</a:t>
            </a:r>
            <a:endParaRPr lang="es-ES_tradnl" sz="1200" noProof="1">
              <a:solidFill>
                <a:schemeClr val="accent4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C1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6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Gracias</a:t>
            </a:r>
            <a:endParaRPr lang="es-ES_tradnl" sz="6400" noProof="1"/>
          </a:p>
        </p:txBody>
      </p:sp>
      <p:sp>
        <p:nvSpPr>
          <p:cNvPr id="4" name="Shape 2"/>
          <p:cNvSpPr/>
          <p:nvPr/>
        </p:nvSpPr>
        <p:spPr>
          <a:xfrm>
            <a:off x="640080" y="2560320"/>
            <a:ext cx="4572000" cy="54864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" name="Text 3"/>
          <p:cNvSpPr/>
          <p:nvPr/>
        </p:nvSpPr>
        <p:spPr>
          <a:xfrm>
            <a:off x="640080" y="27432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1300" noProof="1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Goodreads Best Books Ever  ·  Kaggle</a:t>
            </a:r>
            <a:endParaRPr lang="es-ES_tradnl" sz="1300" noProof="1"/>
          </a:p>
          <a:p>
            <a:pPr marL="0" indent="0" algn="l">
              <a:buNone/>
            </a:pPr>
            <a:r>
              <a:rPr lang="es-ES_tradnl" sz="1300" noProof="1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Herramientas: Python · pandas · matplotlib · seaborn</a:t>
            </a:r>
            <a:endParaRPr lang="es-ES_tradnl" sz="1300" noProof="1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2400" i="1" noProof="1">
                <a:solidFill>
                  <a:srgbClr val="C886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¿Preguntas?</a:t>
            </a:r>
            <a:endParaRPr lang="es-ES_tradnl" sz="2400" noProof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690</Words>
  <Application>Microsoft Macintosh PowerPoint</Application>
  <PresentationFormat>Presentación en pantalla (16:9)</PresentationFormat>
  <Paragraphs>107</Paragraphs>
  <Slides>12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Arial</vt:lpstr>
      <vt:lpstr>Calibri</vt:lpstr>
      <vt:lpstr>Georgia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EDA Goodreads - Análisis de Libros</dc:title>
  <dc:subject>PptxGenJS Presentation</dc:subject>
  <dc:creator>PptxGenJS</dc:creator>
  <cp:lastModifiedBy>Fátima Goiri</cp:lastModifiedBy>
  <cp:revision>15</cp:revision>
  <dcterms:created xsi:type="dcterms:W3CDTF">2026-04-12T11:05:01Z</dcterms:created>
  <dcterms:modified xsi:type="dcterms:W3CDTF">2026-04-15T11:13:43Z</dcterms:modified>
</cp:coreProperties>
</file>